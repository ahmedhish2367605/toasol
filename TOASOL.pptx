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83" r:id="rId3"/>
    <p:sldId id="288" r:id="rId4"/>
    <p:sldId id="287" r:id="rId5"/>
    <p:sldId id="297" r:id="rId6"/>
    <p:sldId id="257" r:id="rId7"/>
    <p:sldId id="290" r:id="rId8"/>
    <p:sldId id="274" r:id="rId9"/>
    <p:sldId id="291" r:id="rId10"/>
    <p:sldId id="275" r:id="rId11"/>
    <p:sldId id="276" r:id="rId12"/>
    <p:sldId id="293" r:id="rId13"/>
    <p:sldId id="294" r:id="rId14"/>
    <p:sldId id="295" r:id="rId15"/>
    <p:sldId id="29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E8B11F7-F6E9-414E-AFB6-71AA4B078203}">
          <p14:sldIdLst>
            <p14:sldId id="277"/>
            <p14:sldId id="283"/>
            <p14:sldId id="288"/>
            <p14:sldId id="287"/>
            <p14:sldId id="297"/>
            <p14:sldId id="257"/>
          </p14:sldIdLst>
        </p14:section>
        <p14:section name="Untitled Section" id="{76DFC249-0D5A-483F-B95D-E69C49CC5CFC}">
          <p14:sldIdLst>
            <p14:sldId id="290"/>
            <p14:sldId id="274"/>
            <p14:sldId id="291"/>
            <p14:sldId id="275"/>
            <p14:sldId id="276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FF4B"/>
    <a:srgbClr val="F66464"/>
    <a:srgbClr val="33CCCC"/>
    <a:srgbClr val="11314F"/>
    <a:srgbClr val="DFFF1D"/>
    <a:srgbClr val="95FDE2"/>
    <a:srgbClr val="FE7402"/>
    <a:srgbClr val="FE6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29D11A-A6B1-46D3-BF0A-3923C5E2251E}" v="1899" dt="2026-08-19T17:17:54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4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9216-9E4D-9B9E-ECAB-C0EF4DDDF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DE22A9-31EC-4DD0-7BDA-B7D57945C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7231B-6F2B-215B-A29B-637BB7EA7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28AB-16E8-9E1D-A174-FABFA03E9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EAB17-E232-9070-581E-BFDE593C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80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EBA7-B738-2D2A-609B-80723135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0E44E-B714-1792-2BE1-8445EBB28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3C045-C469-66AC-5A21-41C9F04E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67B1E-A2D3-FB5D-84EA-CBBEAAD7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5AC3C-6BBC-52B3-01E9-A2ABA1F4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5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DCB77-220F-1352-A802-C78FC4A4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78C07-473B-F062-0641-F3AC254F0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41552-AF41-E58F-F57F-9F06AEA8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65FE1-CA64-5D47-95F9-CA9DBA05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5A5CA-3635-9771-CDCB-4BA3E5DD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7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7669-4D6B-F6BE-FD26-D28F16262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85419-D121-5B8A-26D6-CB38DF0D2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C82B7-C212-BAA4-C33F-8EEABE021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AC9C0-DEF1-4567-D048-F3B51D15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8A1BE-14CA-3ACC-4AB8-31C42C99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0ADA5-8E7A-95A6-313D-5E56F5AA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670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C1FF-7CA5-CBCD-9E19-721996267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7F708-3653-6EF6-3848-C4D32C23E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47075-B39C-EDA2-E34F-4263DF34A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45E4D-29A4-AC61-09EB-591884B2E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7C0DEF-C131-DAD5-D2F7-194A0606C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2EBFA1-0C20-F797-3BEB-FBE88591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FF00A8-BB65-04B3-7DC6-30CB4EB3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0B7EF0-0E8B-1211-7465-6ED3AB573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6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8A49-3959-C0F8-664D-A98F82C2A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FBB51-D2A4-BD07-A518-22C47681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2BD95-F328-E042-CAC4-90B55B96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E32C2-1DF9-0BC9-41DD-2C0F115B2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5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3717B9-FFE3-1CB4-037D-12E23277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87D1B-E988-EB44-11EA-9B11BCD5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B7837-6721-D6D2-360F-9843822F7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19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5CB7-FB4C-64A0-81A1-7B357BFE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780CE-8D35-2761-4431-9117967C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C0E8E-A5BB-D6B6-67EC-45F3EE2A7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4657A-2C62-23E0-06E6-A27C3D9DF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39B1B6-F329-8319-C4E8-72A59F580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C4437-8AD5-1274-02A3-330FCC5A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8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799D-EDAA-31A7-149F-A1F7234C5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691FF5-AFE2-94E8-76FE-50B992D7B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26557F-028D-0964-15B8-3F3C8A49F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9A512-5BBA-73BF-B893-04D5C8A2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658A6-E7F9-9301-7A2B-7CF60EA65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5659E-8760-F07A-69B7-991523E6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7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5E5B-F4B8-FCCA-4D5C-5011F6B3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EB546-9391-4540-D1CC-264A0F005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7F826-49BD-3D23-C536-36A1EE17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AAED0-74A8-8061-A3DA-B4B70470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F1943-4983-90C4-ACE3-AC5FB5A5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7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78284-C8ED-5F29-8DC9-2AF249967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E37443-33A9-210A-FDEE-9DF5CE2D9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27887-8E2F-D2F6-0E8A-9B2671DC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457F5-2827-1EB8-AE1E-11A1D3F3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CFDB0-5618-7A3A-2C9F-FBB87C26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21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A9B80-11E8-205D-3A75-784E64D1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FA3E0-5662-9F0F-2878-0AFDC72F3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7D3D7-0E35-EE03-45C5-FC306F676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43502-8A98-47BF-BC5D-E80A6CA4FC6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EADE7-73CF-8C6A-E7F3-5A724641E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F1B82-E983-4316-39E9-B77FF25297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4612F-8160-49F7-839A-AFA820251C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2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F88DF-7CDF-E8C5-F1D7-5CB71748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97354" cy="70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5F68F-ED0E-BE05-1449-C6DAAF1B6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-58312" y="-13233"/>
            <a:ext cx="14113978" cy="7146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F8D4E-D454-AB07-2C93-F4F323EAA5EE}"/>
              </a:ext>
            </a:extLst>
          </p:cNvPr>
          <p:cNvSpPr txBox="1"/>
          <p:nvPr/>
        </p:nvSpPr>
        <p:spPr>
          <a:xfrm>
            <a:off x="1322363" y="1655866"/>
            <a:ext cx="6004908" cy="104644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400" b="1" dirty="0">
                <a:solidFill>
                  <a:srgbClr val="FE74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ar-EG" sz="4400" b="1" dirty="0">
                <a:solidFill>
                  <a:srgbClr val="33CCCC"/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solidFill>
                <a:srgbClr val="33CCCC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r-EG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B3333-0454-C02F-BAA5-9F327EB5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31" y="4449"/>
            <a:ext cx="7717728" cy="7244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B2AA3-9D4C-7FD9-7641-DAE9F9BC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897"/>
                    </a14:imgEffect>
                    <a14:imgEffect>
                      <a14:saturation sat="10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842" y="1411381"/>
            <a:ext cx="4319978" cy="403523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DF15A67-FF52-2AD0-ECF2-78837C787AB9}"/>
              </a:ext>
            </a:extLst>
          </p:cNvPr>
          <p:cNvGrpSpPr/>
          <p:nvPr/>
        </p:nvGrpSpPr>
        <p:grpSpPr>
          <a:xfrm>
            <a:off x="553255" y="3637901"/>
            <a:ext cx="7655440" cy="1493414"/>
            <a:chOff x="508517" y="3407217"/>
            <a:chExt cx="6685224" cy="12209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52D974-7EDB-9227-328F-23DC4B48C4DE}"/>
                </a:ext>
              </a:extLst>
            </p:cNvPr>
            <p:cNvSpPr txBox="1"/>
            <p:nvPr/>
          </p:nvSpPr>
          <p:spPr>
            <a:xfrm>
              <a:off x="508517" y="4032169"/>
              <a:ext cx="1088328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E2697B-CE66-4F75-A492-D78C1126FEDC}"/>
                </a:ext>
              </a:extLst>
            </p:cNvPr>
            <p:cNvSpPr txBox="1"/>
            <p:nvPr/>
          </p:nvSpPr>
          <p:spPr>
            <a:xfrm>
              <a:off x="2319573" y="3418837"/>
              <a:ext cx="889141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AEF3C-DCB0-79D1-3B78-4E1EBCA24DD8}"/>
                </a:ext>
              </a:extLst>
            </p:cNvPr>
            <p:cNvSpPr txBox="1"/>
            <p:nvPr/>
          </p:nvSpPr>
          <p:spPr>
            <a:xfrm>
              <a:off x="3953931" y="4053197"/>
              <a:ext cx="1369999" cy="57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77CF5E-06CE-D704-D8DC-1B70517DDAB7}"/>
                </a:ext>
              </a:extLst>
            </p:cNvPr>
            <p:cNvSpPr txBox="1"/>
            <p:nvPr/>
          </p:nvSpPr>
          <p:spPr>
            <a:xfrm>
              <a:off x="5823742" y="3407217"/>
              <a:ext cx="1369999" cy="624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Aptos"/>
                </a:rPr>
                <a:t>Center</a:t>
              </a: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162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F88DF-7CDF-E8C5-F1D7-5CB71748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97354" cy="70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5F68F-ED0E-BE05-1449-C6DAAF1B6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-58312" y="-1358"/>
            <a:ext cx="14113978" cy="7146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F8D4E-D454-AB07-2C93-F4F323EAA5EE}"/>
              </a:ext>
            </a:extLst>
          </p:cNvPr>
          <p:cNvSpPr txBox="1"/>
          <p:nvPr/>
        </p:nvSpPr>
        <p:spPr>
          <a:xfrm>
            <a:off x="1322363" y="1655866"/>
            <a:ext cx="6004908" cy="132343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400" b="1" dirty="0">
                <a:solidFill>
                  <a:srgbClr val="FE74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ar-EG" sz="4400" b="1" dirty="0">
                <a:solidFill>
                  <a:srgbClr val="33CCCC"/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solidFill>
                <a:srgbClr val="33CCCC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r-EG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Connecting Children, Families &amp; Specialists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B3333-0454-C02F-BAA5-9F327EB5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31" y="-7426"/>
            <a:ext cx="7717728" cy="7244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B2AA3-9D4C-7FD9-7641-DAE9F9BC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897"/>
                    </a14:imgEffect>
                    <a14:imgEffect>
                      <a14:saturation sat="10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468" y="111565"/>
            <a:ext cx="2267141" cy="211770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DF15A67-FF52-2AD0-ECF2-78837C787AB9}"/>
              </a:ext>
            </a:extLst>
          </p:cNvPr>
          <p:cNvGrpSpPr/>
          <p:nvPr/>
        </p:nvGrpSpPr>
        <p:grpSpPr>
          <a:xfrm>
            <a:off x="553255" y="3637901"/>
            <a:ext cx="7655440" cy="1493414"/>
            <a:chOff x="508517" y="3407217"/>
            <a:chExt cx="6685224" cy="12209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52D974-7EDB-9227-328F-23DC4B48C4DE}"/>
                </a:ext>
              </a:extLst>
            </p:cNvPr>
            <p:cNvSpPr txBox="1"/>
            <p:nvPr/>
          </p:nvSpPr>
          <p:spPr>
            <a:xfrm>
              <a:off x="508517" y="4032169"/>
              <a:ext cx="1088328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E2697B-CE66-4F75-A492-D78C1126FEDC}"/>
                </a:ext>
              </a:extLst>
            </p:cNvPr>
            <p:cNvSpPr txBox="1"/>
            <p:nvPr/>
          </p:nvSpPr>
          <p:spPr>
            <a:xfrm>
              <a:off x="2319573" y="3418837"/>
              <a:ext cx="889141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AEF3C-DCB0-79D1-3B78-4E1EBCA24DD8}"/>
                </a:ext>
              </a:extLst>
            </p:cNvPr>
            <p:cNvSpPr txBox="1"/>
            <p:nvPr/>
          </p:nvSpPr>
          <p:spPr>
            <a:xfrm>
              <a:off x="3953931" y="4053197"/>
              <a:ext cx="1369999" cy="57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77CF5E-06CE-D704-D8DC-1B70517DDAB7}"/>
                </a:ext>
              </a:extLst>
            </p:cNvPr>
            <p:cNvSpPr txBox="1"/>
            <p:nvPr/>
          </p:nvSpPr>
          <p:spPr>
            <a:xfrm>
              <a:off x="5823742" y="3407217"/>
              <a:ext cx="1369999" cy="624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CFD24BA-2B8A-1EAB-9CB2-9D22028E7A74}"/>
              </a:ext>
            </a:extLst>
          </p:cNvPr>
          <p:cNvSpPr txBox="1"/>
          <p:nvPr/>
        </p:nvSpPr>
        <p:spPr>
          <a:xfrm>
            <a:off x="495052" y="1626005"/>
            <a:ext cx="7174522" cy="76944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4BEA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TOASOL</a:t>
            </a:r>
          </a:p>
        </p:txBody>
      </p:sp>
    </p:spTree>
    <p:extLst>
      <p:ext uri="{BB962C8B-B14F-4D97-AF65-F5344CB8AC3E}">
        <p14:creationId xmlns:p14="http://schemas.microsoft.com/office/powerpoint/2010/main" val="4080453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F88DF-7CDF-E8C5-F1D7-5CB71748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97354" cy="70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5F68F-ED0E-BE05-1449-C6DAAF1B6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-58313" y="0"/>
            <a:ext cx="14113978" cy="7146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F8D4E-D454-AB07-2C93-F4F323EAA5EE}"/>
              </a:ext>
            </a:extLst>
          </p:cNvPr>
          <p:cNvSpPr txBox="1"/>
          <p:nvPr/>
        </p:nvSpPr>
        <p:spPr>
          <a:xfrm>
            <a:off x="1334238" y="1654711"/>
            <a:ext cx="6004908" cy="132343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400" b="1" dirty="0">
                <a:solidFill>
                  <a:srgbClr val="FE74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ar-EG" sz="4400" b="1" dirty="0">
                <a:solidFill>
                  <a:srgbClr val="33CCCC"/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solidFill>
                <a:srgbClr val="33CCCC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r-EG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Connecting Children, Families &amp; Specialists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B3333-0454-C02F-BAA5-9F327EB5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31" y="-7426"/>
            <a:ext cx="7717728" cy="7244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B2AA3-9D4C-7FD9-7641-DAE9F9BC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897"/>
                    </a14:imgEffect>
                    <a14:imgEffect>
                      <a14:saturation sat="10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468" y="111565"/>
            <a:ext cx="2267141" cy="211770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DF15A67-FF52-2AD0-ECF2-78837C787AB9}"/>
              </a:ext>
            </a:extLst>
          </p:cNvPr>
          <p:cNvGrpSpPr/>
          <p:nvPr/>
        </p:nvGrpSpPr>
        <p:grpSpPr>
          <a:xfrm>
            <a:off x="391065" y="3611585"/>
            <a:ext cx="7817630" cy="1790410"/>
            <a:chOff x="366882" y="3385702"/>
            <a:chExt cx="6826859" cy="146374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8B17243-B92E-0722-A496-B1174325E560}"/>
                </a:ext>
              </a:extLst>
            </p:cNvPr>
            <p:cNvSpPr/>
            <p:nvPr/>
          </p:nvSpPr>
          <p:spPr>
            <a:xfrm>
              <a:off x="366882" y="3615005"/>
              <a:ext cx="1234440" cy="1234440"/>
            </a:xfrm>
            <a:prstGeom prst="ellipse">
              <a:avLst/>
            </a:prstGeom>
            <a:solidFill>
              <a:srgbClr val="24BEAE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75000"/>
                  <a:alpha val="54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52D974-7EDB-9227-328F-23DC4B48C4DE}"/>
                </a:ext>
              </a:extLst>
            </p:cNvPr>
            <p:cNvSpPr txBox="1"/>
            <p:nvPr/>
          </p:nvSpPr>
          <p:spPr>
            <a:xfrm>
              <a:off x="2292684" y="3385702"/>
              <a:ext cx="1088328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E2697B-CE66-4F75-A492-D78C1126FEDC}"/>
                </a:ext>
              </a:extLst>
            </p:cNvPr>
            <p:cNvSpPr txBox="1"/>
            <p:nvPr/>
          </p:nvSpPr>
          <p:spPr>
            <a:xfrm>
              <a:off x="539531" y="4040705"/>
              <a:ext cx="889141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</a:rPr>
                <a:t>Child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AEF3C-DCB0-79D1-3B78-4E1EBCA24DD8}"/>
                </a:ext>
              </a:extLst>
            </p:cNvPr>
            <p:cNvSpPr txBox="1"/>
            <p:nvPr/>
          </p:nvSpPr>
          <p:spPr>
            <a:xfrm>
              <a:off x="3953931" y="4053197"/>
              <a:ext cx="1369999" cy="57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77CF5E-06CE-D704-D8DC-1B70517DDAB7}"/>
                </a:ext>
              </a:extLst>
            </p:cNvPr>
            <p:cNvSpPr txBox="1"/>
            <p:nvPr/>
          </p:nvSpPr>
          <p:spPr>
            <a:xfrm>
              <a:off x="5823742" y="3407217"/>
              <a:ext cx="1369999" cy="624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CFD24BA-2B8A-1EAB-9CB2-9D22028E7A74}"/>
              </a:ext>
            </a:extLst>
          </p:cNvPr>
          <p:cNvSpPr txBox="1"/>
          <p:nvPr/>
        </p:nvSpPr>
        <p:spPr>
          <a:xfrm>
            <a:off x="495052" y="1626005"/>
            <a:ext cx="7174522" cy="76944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4BEA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TOASOL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C2ECF7-7240-491A-85F8-46EA85CB154F}"/>
              </a:ext>
            </a:extLst>
          </p:cNvPr>
          <p:cNvSpPr txBox="1"/>
          <p:nvPr/>
        </p:nvSpPr>
        <p:spPr>
          <a:xfrm>
            <a:off x="2295680" y="3312569"/>
            <a:ext cx="8447355" cy="46166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6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specialized digital platform for: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606C1CFD-F484-470E-1200-1692233B9F8E}"/>
              </a:ext>
            </a:extLst>
          </p:cNvPr>
          <p:cNvSpPr/>
          <p:nvPr/>
        </p:nvSpPr>
        <p:spPr>
          <a:xfrm rot="10800000">
            <a:off x="2370866" y="4033811"/>
            <a:ext cx="3058112" cy="799815"/>
          </a:xfrm>
          <a:prstGeom prst="roundRect">
            <a:avLst>
              <a:gd name="adj" fmla="val 20230"/>
            </a:avLst>
          </a:prstGeom>
          <a:gradFill flip="none" rotWithShape="1">
            <a:gsLst>
              <a:gs pos="0">
                <a:schemeClr val="bg1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9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A8BE97-A769-AC2E-658C-E74E05363895}"/>
              </a:ext>
            </a:extLst>
          </p:cNvPr>
          <p:cNvSpPr txBox="1"/>
          <p:nvPr/>
        </p:nvSpPr>
        <p:spPr>
          <a:xfrm>
            <a:off x="3178559" y="4194891"/>
            <a:ext cx="7153420" cy="40011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55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 Delay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1A16E1-05A1-81A7-2D69-D0EFFD85E5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7345"/>
                    </a14:imgEffect>
                    <a14:imgEffect>
                      <a14:saturation sat="122000"/>
                    </a14:imgEffect>
                    <a14:imgEffect>
                      <a14:brightnessContrast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3777"/>
          <a:stretch/>
        </p:blipFill>
        <p:spPr>
          <a:xfrm>
            <a:off x="2486335" y="4118022"/>
            <a:ext cx="628853" cy="581145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75000"/>
                <a:alpha val="50000"/>
              </a:scheme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27CBC63-5476-8D5B-3153-89F11A40D0EA}"/>
              </a:ext>
            </a:extLst>
          </p:cNvPr>
          <p:cNvSpPr/>
          <p:nvPr/>
        </p:nvSpPr>
        <p:spPr>
          <a:xfrm flipH="1">
            <a:off x="2309284" y="4037353"/>
            <a:ext cx="89364" cy="799815"/>
          </a:xfrm>
          <a:prstGeom prst="roundRect">
            <a:avLst>
              <a:gd name="adj" fmla="val 23950"/>
            </a:avLst>
          </a:prstGeom>
          <a:solidFill>
            <a:srgbClr val="33CCCC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54B72715-362A-899E-48B3-040CD9C54DB3}"/>
              </a:ext>
            </a:extLst>
          </p:cNvPr>
          <p:cNvSpPr/>
          <p:nvPr/>
        </p:nvSpPr>
        <p:spPr>
          <a:xfrm rot="10800000">
            <a:off x="2370865" y="4969908"/>
            <a:ext cx="3058112" cy="799815"/>
          </a:xfrm>
          <a:prstGeom prst="roundRect">
            <a:avLst>
              <a:gd name="adj" fmla="val 20230"/>
            </a:avLst>
          </a:prstGeom>
          <a:gradFill flip="none" rotWithShape="1">
            <a:gsLst>
              <a:gs pos="0">
                <a:schemeClr val="bg1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9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5D5246-C679-654B-203D-9BD387C339FA}"/>
              </a:ext>
            </a:extLst>
          </p:cNvPr>
          <p:cNvSpPr txBox="1"/>
          <p:nvPr/>
        </p:nvSpPr>
        <p:spPr>
          <a:xfrm>
            <a:off x="3027353" y="5121239"/>
            <a:ext cx="7153420" cy="40011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54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Skill Development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9E6681-54F3-5E75-5116-25AC0C7A70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1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847" r="32768"/>
          <a:stretch/>
        </p:blipFill>
        <p:spPr>
          <a:xfrm>
            <a:off x="2517524" y="5052736"/>
            <a:ext cx="509829" cy="524761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75000"/>
                <a:alpha val="50000"/>
              </a:schemeClr>
            </a:outerShdw>
          </a:effectLst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892DC-725F-D104-FB0D-5DBB366E70F0}"/>
              </a:ext>
            </a:extLst>
          </p:cNvPr>
          <p:cNvSpPr/>
          <p:nvPr/>
        </p:nvSpPr>
        <p:spPr>
          <a:xfrm flipH="1">
            <a:off x="2312552" y="4975915"/>
            <a:ext cx="86096" cy="799815"/>
          </a:xfrm>
          <a:prstGeom prst="roundRect">
            <a:avLst>
              <a:gd name="adj" fmla="val 23950"/>
            </a:avLst>
          </a:prstGeom>
          <a:solidFill>
            <a:srgbClr val="33CCCC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DEEB3CA7-ABE9-FB61-F07A-52D954BE0380}"/>
              </a:ext>
            </a:extLst>
          </p:cNvPr>
          <p:cNvSpPr/>
          <p:nvPr/>
        </p:nvSpPr>
        <p:spPr>
          <a:xfrm rot="10800000">
            <a:off x="2370865" y="5904182"/>
            <a:ext cx="3058112" cy="799815"/>
          </a:xfrm>
          <a:prstGeom prst="roundRect">
            <a:avLst>
              <a:gd name="adj" fmla="val 20230"/>
            </a:avLst>
          </a:prstGeom>
          <a:gradFill flip="none" rotWithShape="1">
            <a:gsLst>
              <a:gs pos="0">
                <a:schemeClr val="bg1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9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38BD0B-B078-2664-2A32-8F782A5C3045}"/>
              </a:ext>
            </a:extLst>
          </p:cNvPr>
          <p:cNvSpPr txBox="1"/>
          <p:nvPr/>
        </p:nvSpPr>
        <p:spPr>
          <a:xfrm>
            <a:off x="2966355" y="6076302"/>
            <a:ext cx="7153420" cy="40011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>
                <a:alpha val="55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Difficulties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B29C11-E3FA-8231-25A1-046EC1BA66E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8482"/>
                    </a14:imgEffect>
                    <a14:imgEffect>
                      <a14:saturation sat="21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6524"/>
          <a:stretch/>
        </p:blipFill>
        <p:spPr>
          <a:xfrm>
            <a:off x="2480204" y="6035316"/>
            <a:ext cx="486151" cy="484082"/>
          </a:xfrm>
          <a:prstGeom prst="rect">
            <a:avLst/>
          </a:prstGeom>
          <a:effectLst>
            <a:outerShdw blurRad="50800" dist="38100" dir="2700000" algn="tl" rotWithShape="0">
              <a:schemeClr val="bg1">
                <a:lumMod val="75000"/>
                <a:alpha val="50000"/>
              </a:schemeClr>
            </a:outerShdw>
          </a:effectLst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E41821-B836-A863-EEA8-F29E5842C595}"/>
              </a:ext>
            </a:extLst>
          </p:cNvPr>
          <p:cNvSpPr/>
          <p:nvPr/>
        </p:nvSpPr>
        <p:spPr>
          <a:xfrm flipH="1">
            <a:off x="2309284" y="5898527"/>
            <a:ext cx="86096" cy="799815"/>
          </a:xfrm>
          <a:prstGeom prst="roundRect">
            <a:avLst>
              <a:gd name="adj" fmla="val 23950"/>
            </a:avLst>
          </a:prstGeom>
          <a:solidFill>
            <a:srgbClr val="33CCCC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46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F88DF-7CDF-E8C5-F1D7-5CB71748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97354" cy="70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5F68F-ED0E-BE05-1449-C6DAAF1B6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-58312" y="-7426"/>
            <a:ext cx="14113978" cy="7146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F8D4E-D454-AB07-2C93-F4F323EAA5EE}"/>
              </a:ext>
            </a:extLst>
          </p:cNvPr>
          <p:cNvSpPr txBox="1"/>
          <p:nvPr/>
        </p:nvSpPr>
        <p:spPr>
          <a:xfrm>
            <a:off x="1322363" y="1655866"/>
            <a:ext cx="6004908" cy="132343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400" b="1" dirty="0">
                <a:solidFill>
                  <a:srgbClr val="FE74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ar-EG" sz="4400" b="1" dirty="0">
                <a:solidFill>
                  <a:srgbClr val="33CCCC"/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solidFill>
                <a:srgbClr val="33CCCC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r-EG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Connecting Children, Families &amp; Specialists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B3333-0454-C02F-BAA5-9F327EB5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31" y="-7426"/>
            <a:ext cx="7717728" cy="7244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B2AA3-9D4C-7FD9-7641-DAE9F9BC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897"/>
                    </a14:imgEffect>
                    <a14:imgEffect>
                      <a14:saturation sat="10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468" y="111565"/>
            <a:ext cx="2267141" cy="2117708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8B17243-B92E-0722-A496-B1174325E560}"/>
              </a:ext>
            </a:extLst>
          </p:cNvPr>
          <p:cNvSpPr/>
          <p:nvPr/>
        </p:nvSpPr>
        <p:spPr>
          <a:xfrm>
            <a:off x="391065" y="3892061"/>
            <a:ext cx="1413592" cy="1509933"/>
          </a:xfrm>
          <a:prstGeom prst="ellipse">
            <a:avLst/>
          </a:prstGeom>
          <a:solidFill>
            <a:srgbClr val="24BEAE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54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A7C232-E296-9C61-2401-913E22574A1F}"/>
              </a:ext>
            </a:extLst>
          </p:cNvPr>
          <p:cNvSpPr/>
          <p:nvPr/>
        </p:nvSpPr>
        <p:spPr>
          <a:xfrm>
            <a:off x="2426879" y="3137095"/>
            <a:ext cx="1413592" cy="1509933"/>
          </a:xfrm>
          <a:prstGeom prst="ellipse">
            <a:avLst/>
          </a:prstGeom>
          <a:solidFill>
            <a:srgbClr val="24BEAE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17FAF4-2896-DED5-F7B6-1D5234B1B313}"/>
              </a:ext>
            </a:extLst>
          </p:cNvPr>
          <p:cNvSpPr/>
          <p:nvPr/>
        </p:nvSpPr>
        <p:spPr>
          <a:xfrm>
            <a:off x="4467819" y="3798439"/>
            <a:ext cx="1413592" cy="1509933"/>
          </a:xfrm>
          <a:prstGeom prst="ellipse">
            <a:avLst/>
          </a:prstGeom>
          <a:solidFill>
            <a:srgbClr val="24BEAE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8E4A8A-DD8F-E017-C11D-EA752C678DC8}"/>
              </a:ext>
            </a:extLst>
          </p:cNvPr>
          <p:cNvSpPr/>
          <p:nvPr/>
        </p:nvSpPr>
        <p:spPr>
          <a:xfrm>
            <a:off x="6503633" y="3137095"/>
            <a:ext cx="1413592" cy="1509933"/>
          </a:xfrm>
          <a:prstGeom prst="ellipse">
            <a:avLst/>
          </a:prstGeom>
          <a:solidFill>
            <a:srgbClr val="24BEAE"/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52D974-7EDB-9227-328F-23DC4B48C4DE}"/>
              </a:ext>
            </a:extLst>
          </p:cNvPr>
          <p:cNvSpPr txBox="1"/>
          <p:nvPr/>
        </p:nvSpPr>
        <p:spPr>
          <a:xfrm>
            <a:off x="2596356" y="3611584"/>
            <a:ext cx="1246275" cy="458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ptos"/>
              </a:rPr>
              <a:t>Parent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E2697B-CE66-4F75-A492-D78C1126FEDC}"/>
              </a:ext>
            </a:extLst>
          </p:cNvPr>
          <p:cNvSpPr txBox="1"/>
          <p:nvPr/>
        </p:nvSpPr>
        <p:spPr>
          <a:xfrm>
            <a:off x="588770" y="4412766"/>
            <a:ext cx="1018181" cy="458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Child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4AEF3C-DCB0-79D1-3B78-4E1EBCA24DD8}"/>
              </a:ext>
            </a:extLst>
          </p:cNvPr>
          <p:cNvSpPr txBox="1"/>
          <p:nvPr/>
        </p:nvSpPr>
        <p:spPr>
          <a:xfrm>
            <a:off x="4498697" y="4428046"/>
            <a:ext cx="1568825" cy="703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Aptos"/>
              </a:rPr>
              <a:t>Specialist</a:t>
            </a:r>
          </a:p>
          <a:p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77CF5E-06CE-D704-D8DC-1B70517DDAB7}"/>
              </a:ext>
            </a:extLst>
          </p:cNvPr>
          <p:cNvSpPr txBox="1"/>
          <p:nvPr/>
        </p:nvSpPr>
        <p:spPr>
          <a:xfrm>
            <a:off x="6639870" y="3637901"/>
            <a:ext cx="1568825" cy="764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  <a:latin typeface="Aptos"/>
              </a:rPr>
              <a:t>Center</a:t>
            </a:r>
          </a:p>
          <a:p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D24BA-2B8A-1EAB-9CB2-9D22028E7A74}"/>
              </a:ext>
            </a:extLst>
          </p:cNvPr>
          <p:cNvSpPr txBox="1"/>
          <p:nvPr/>
        </p:nvSpPr>
        <p:spPr>
          <a:xfrm>
            <a:off x="495052" y="1626005"/>
            <a:ext cx="7174522" cy="76944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4BEA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TOASOL</a:t>
            </a:r>
          </a:p>
        </p:txBody>
      </p:sp>
    </p:spTree>
    <p:extLst>
      <p:ext uri="{BB962C8B-B14F-4D97-AF65-F5344CB8AC3E}">
        <p14:creationId xmlns:p14="http://schemas.microsoft.com/office/powerpoint/2010/main" val="96004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417B6C6-4683-84F4-5F99-BFD94F5F3D0E}"/>
              </a:ext>
            </a:extLst>
          </p:cNvPr>
          <p:cNvGrpSpPr/>
          <p:nvPr/>
        </p:nvGrpSpPr>
        <p:grpSpPr>
          <a:xfrm>
            <a:off x="129600" y="654409"/>
            <a:ext cx="5526443" cy="5473260"/>
            <a:chOff x="-3012247" y="-194578"/>
            <a:chExt cx="7848000" cy="784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697A330-8E43-922A-71A1-0EC1B95A9EF5}"/>
                </a:ext>
              </a:extLst>
            </p:cNvPr>
            <p:cNvGrpSpPr/>
            <p:nvPr/>
          </p:nvGrpSpPr>
          <p:grpSpPr>
            <a:xfrm>
              <a:off x="-3012247" y="-194578"/>
              <a:ext cx="7848000" cy="7848000"/>
              <a:chOff x="-2554003" y="-271320"/>
              <a:chExt cx="7129858" cy="7251728"/>
            </a:xfrm>
          </p:grpSpPr>
          <p:sp useBgFill="1">
            <p:nvSpPr>
              <p:cNvPr id="31" name="Flowchart: Summing Junction 30">
                <a:extLst>
                  <a:ext uri="{FF2B5EF4-FFF2-40B4-BE49-F238E27FC236}">
                    <a16:creationId xmlns:a16="http://schemas.microsoft.com/office/drawing/2014/main" id="{6A4FBB7F-BCE3-1E34-2DBA-84B41A46F889}"/>
                  </a:ext>
                </a:extLst>
              </p:cNvPr>
              <p:cNvSpPr/>
              <p:nvPr/>
            </p:nvSpPr>
            <p:spPr>
              <a:xfrm>
                <a:off x="-2554003" y="-271320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32" name="Oval 31">
                <a:extLst>
                  <a:ext uri="{FF2B5EF4-FFF2-40B4-BE49-F238E27FC236}">
                    <a16:creationId xmlns:a16="http://schemas.microsoft.com/office/drawing/2014/main" id="{0D225976-8870-1D63-D92C-68D24565538B}"/>
                  </a:ext>
                </a:extLst>
              </p:cNvPr>
              <p:cNvSpPr/>
              <p:nvPr/>
            </p:nvSpPr>
            <p:spPr>
              <a:xfrm>
                <a:off x="-818965" y="1491714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2647759-67D3-68DE-2423-11D4302A576E}"/>
                  </a:ext>
                </a:extLst>
              </p:cNvPr>
              <p:cNvSpPr txBox="1"/>
              <p:nvPr/>
            </p:nvSpPr>
            <p:spPr>
              <a:xfrm rot="5400000">
                <a:off x="2854863" y="3228102"/>
                <a:ext cx="1989751" cy="745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FCEB0B8-5E4F-C641-6B4E-DE387F242C66}"/>
                  </a:ext>
                </a:extLst>
              </p:cNvPr>
              <p:cNvSpPr txBox="1"/>
              <p:nvPr/>
            </p:nvSpPr>
            <p:spPr>
              <a:xfrm>
                <a:off x="133999" y="5836110"/>
                <a:ext cx="1919967" cy="754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rgbClr val="F66464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BEB82C7-833F-7BAF-A59F-3FBB2DD61269}"/>
                  </a:ext>
                </a:extLst>
              </p:cNvPr>
              <p:cNvSpPr txBox="1"/>
              <p:nvPr/>
            </p:nvSpPr>
            <p:spPr>
              <a:xfrm>
                <a:off x="300116" y="438229"/>
                <a:ext cx="2039606" cy="754242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9AB0F10-976C-E3F5-4D0F-905336FD600B}"/>
                </a:ext>
              </a:extLst>
            </p:cNvPr>
            <p:cNvSpPr txBox="1"/>
            <p:nvPr/>
          </p:nvSpPr>
          <p:spPr>
            <a:xfrm rot="16200000">
              <a:off x="-2932652" y="2938376"/>
              <a:ext cx="2058305" cy="821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DF15A67-FF52-2AD0-ECF2-78837C787AB9}"/>
              </a:ext>
            </a:extLst>
          </p:cNvPr>
          <p:cNvGrpSpPr/>
          <p:nvPr/>
        </p:nvGrpSpPr>
        <p:grpSpPr>
          <a:xfrm>
            <a:off x="553255" y="3637901"/>
            <a:ext cx="7655440" cy="1493414"/>
            <a:chOff x="508517" y="3407217"/>
            <a:chExt cx="6685224" cy="12209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52D974-7EDB-9227-328F-23DC4B48C4DE}"/>
                </a:ext>
              </a:extLst>
            </p:cNvPr>
            <p:cNvSpPr txBox="1"/>
            <p:nvPr/>
          </p:nvSpPr>
          <p:spPr>
            <a:xfrm>
              <a:off x="508517" y="4032169"/>
              <a:ext cx="1088328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E2697B-CE66-4F75-A492-D78C1126FEDC}"/>
                </a:ext>
              </a:extLst>
            </p:cNvPr>
            <p:cNvSpPr txBox="1"/>
            <p:nvPr/>
          </p:nvSpPr>
          <p:spPr>
            <a:xfrm>
              <a:off x="2319573" y="3418837"/>
              <a:ext cx="889141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AEF3C-DCB0-79D1-3B78-4E1EBCA24DD8}"/>
                </a:ext>
              </a:extLst>
            </p:cNvPr>
            <p:cNvSpPr txBox="1"/>
            <p:nvPr/>
          </p:nvSpPr>
          <p:spPr>
            <a:xfrm>
              <a:off x="3953931" y="4053197"/>
              <a:ext cx="1369999" cy="57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77CF5E-06CE-D704-D8DC-1B70517DDAB7}"/>
                </a:ext>
              </a:extLst>
            </p:cNvPr>
            <p:cNvSpPr txBox="1"/>
            <p:nvPr/>
          </p:nvSpPr>
          <p:spPr>
            <a:xfrm>
              <a:off x="5823742" y="3407217"/>
              <a:ext cx="1369999" cy="624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217E435-A205-3688-F8AC-DF690455DC51}"/>
              </a:ext>
            </a:extLst>
          </p:cNvPr>
          <p:cNvSpPr/>
          <p:nvPr/>
        </p:nvSpPr>
        <p:spPr>
          <a:xfrm>
            <a:off x="-1083211" y="0"/>
            <a:ext cx="13275211" cy="6894594"/>
          </a:xfrm>
          <a:prstGeom prst="rect">
            <a:avLst/>
          </a:prstGeom>
          <a:gradFill flip="none" rotWithShape="1">
            <a:gsLst>
              <a:gs pos="70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5C7ADB0-9909-04C7-A24E-7A02CF29C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8408" y="122081"/>
            <a:ext cx="1316850" cy="1237595"/>
          </a:xfrm>
          <a:prstGeom prst="rect">
            <a:avLst/>
          </a:prstGeom>
        </p:spPr>
      </p:pic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35A9DE44-E5CF-3F5D-01E0-CE84D00D019B}"/>
              </a:ext>
            </a:extLst>
          </p:cNvPr>
          <p:cNvSpPr/>
          <p:nvPr/>
        </p:nvSpPr>
        <p:spPr>
          <a:xfrm>
            <a:off x="5808919" y="1481757"/>
            <a:ext cx="6143998" cy="4795024"/>
          </a:xfrm>
          <a:prstGeom prst="roundRect">
            <a:avLst>
              <a:gd name="adj" fmla="val 7921"/>
            </a:avLst>
          </a:prstGeom>
          <a:gradFill flip="none" rotWithShape="1">
            <a:gsLst>
              <a:gs pos="0">
                <a:schemeClr val="bg1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rect">
              <a:fillToRect r="100000" b="100000"/>
            </a:path>
            <a:tileRect l="-100000" t="-100000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9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CB6EDD-4D65-A43F-1E73-EC0D530E6EC3}"/>
              </a:ext>
            </a:extLst>
          </p:cNvPr>
          <p:cNvSpPr txBox="1"/>
          <p:nvPr/>
        </p:nvSpPr>
        <p:spPr>
          <a:xfrm>
            <a:off x="4059964" y="485840"/>
            <a:ext cx="6178197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24BE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PRESENTATION OVERVIEW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srgbClr val="24BE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24BEA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50894B-A9DF-91D2-BF92-0EF0B0F8A02B}"/>
              </a:ext>
            </a:extLst>
          </p:cNvPr>
          <p:cNvSpPr txBox="1"/>
          <p:nvPr/>
        </p:nvSpPr>
        <p:spPr>
          <a:xfrm>
            <a:off x="5808919" y="1078905"/>
            <a:ext cx="529971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52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Follow TOASOL journey through 4 key parts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02661C0-9278-65CD-B502-9163F894B850}"/>
              </a:ext>
            </a:extLst>
          </p:cNvPr>
          <p:cNvSpPr/>
          <p:nvPr/>
        </p:nvSpPr>
        <p:spPr>
          <a:xfrm>
            <a:off x="5924199" y="1734333"/>
            <a:ext cx="787856" cy="764423"/>
          </a:xfrm>
          <a:prstGeom prst="ellipse">
            <a:avLst/>
          </a:prstGeom>
          <a:solidFill>
            <a:srgbClr val="26C2B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F37"/>
                </a:solidFill>
                <a:latin typeface="Aptos"/>
              </a:defRPr>
            </a:pP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D6A39F-5832-04BF-1544-838341E67343}"/>
              </a:ext>
            </a:extLst>
          </p:cNvPr>
          <p:cNvSpPr txBox="1"/>
          <p:nvPr/>
        </p:nvSpPr>
        <p:spPr>
          <a:xfrm>
            <a:off x="6712055" y="1776019"/>
            <a:ext cx="5406268" cy="11387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defRPr sz="1600" b="1">
                <a:solidFill>
                  <a:srgbClr val="F5F5F5"/>
                </a:solidFill>
                <a:latin typeface="Aptos Display"/>
              </a:defRPr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 AND THE SOLUTION</a:t>
            </a:r>
          </a:p>
          <a:p>
            <a:pPr>
              <a:defRPr sz="1600" b="1">
                <a:solidFill>
                  <a:srgbClr val="F5F5F5"/>
                </a:solidFill>
                <a:latin typeface="Aptos Display"/>
              </a:defRPr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Problem Are We Solving &amp; How Does TOASOL Solve the Problem? </a:t>
            </a:r>
          </a:p>
          <a:p>
            <a:pPr>
              <a:defRPr sz="1600" b="1">
                <a:solidFill>
                  <a:srgbClr val="F5F5F5"/>
                </a:solidFill>
                <a:latin typeface="Aptos Display"/>
              </a:defRPr>
            </a:pPr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0999489-A486-380C-61FF-30E5B8C118D9}"/>
              </a:ext>
            </a:extLst>
          </p:cNvPr>
          <p:cNvSpPr/>
          <p:nvPr/>
        </p:nvSpPr>
        <p:spPr>
          <a:xfrm>
            <a:off x="5924118" y="2820069"/>
            <a:ext cx="787856" cy="764423"/>
          </a:xfrm>
          <a:prstGeom prst="ellipse">
            <a:avLst/>
          </a:prstGeom>
          <a:solidFill>
            <a:srgbClr val="26C2B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F37"/>
                </a:solidFill>
                <a:latin typeface="Aptos"/>
              </a:defRPr>
            </a:pP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D70185D-AF4D-A057-630C-15367A7DB7E0}"/>
              </a:ext>
            </a:extLst>
          </p:cNvPr>
          <p:cNvSpPr/>
          <p:nvPr/>
        </p:nvSpPr>
        <p:spPr>
          <a:xfrm>
            <a:off x="5924118" y="3905805"/>
            <a:ext cx="787856" cy="764423"/>
          </a:xfrm>
          <a:prstGeom prst="ellipse">
            <a:avLst/>
          </a:prstGeom>
          <a:solidFill>
            <a:srgbClr val="26C2B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F37"/>
                </a:solidFill>
                <a:latin typeface="Aptos"/>
              </a:defRPr>
            </a:pP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533866-4049-2D65-8F25-2EB160CA9CCD}"/>
              </a:ext>
            </a:extLst>
          </p:cNvPr>
          <p:cNvSpPr txBox="1"/>
          <p:nvPr/>
        </p:nvSpPr>
        <p:spPr>
          <a:xfrm>
            <a:off x="6711974" y="2884658"/>
            <a:ext cx="4709684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USERS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Uses TOASOL?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364D76-3521-4050-BC54-0872288FBF24}"/>
              </a:ext>
            </a:extLst>
          </p:cNvPr>
          <p:cNvSpPr txBox="1"/>
          <p:nvPr/>
        </p:nvSpPr>
        <p:spPr>
          <a:xfrm>
            <a:off x="6729484" y="3920489"/>
            <a:ext cx="5225357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MARKET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Are Our Competitors  &amp; Competitive Comparison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2A9EA2A-A3D0-7FE3-1B9E-CCB6B9081A76}"/>
              </a:ext>
            </a:extLst>
          </p:cNvPr>
          <p:cNvSpPr/>
          <p:nvPr/>
        </p:nvSpPr>
        <p:spPr>
          <a:xfrm>
            <a:off x="5924118" y="4987117"/>
            <a:ext cx="787856" cy="764423"/>
          </a:xfrm>
          <a:prstGeom prst="ellipse">
            <a:avLst/>
          </a:prstGeom>
          <a:solidFill>
            <a:srgbClr val="26C2B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1F37"/>
                </a:solidFill>
                <a:latin typeface="Aptos"/>
              </a:defRPr>
            </a:pPr>
            <a:r>
              <a:rPr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24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DF3761-68F5-B961-A8A0-DAD83F06B3F8}"/>
              </a:ext>
            </a:extLst>
          </p:cNvPr>
          <p:cNvSpPr txBox="1"/>
          <p:nvPr/>
        </p:nvSpPr>
        <p:spPr>
          <a:xfrm>
            <a:off x="6820141" y="5074467"/>
            <a:ext cx="4601517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BUSINESS MODEL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Invest in TOASOL? Revenue Streams &amp;  Capital Cycle</a:t>
            </a:r>
          </a:p>
          <a:p>
            <a:endParaRPr lang="en-US" sz="2000" b="1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1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>
            <a:off x="-3189266" y="-196948"/>
            <a:ext cx="7610187" cy="7862431"/>
            <a:chOff x="-3012247" y="-194578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3012247" y="-194578"/>
              <a:ext cx="7848000" cy="7848000"/>
              <a:chOff x="-2554003" y="-271320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554003" y="-271320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51483"/>
                <a:ext cx="1753849" cy="663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>
                <a:off x="134000" y="5836110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300115" y="438229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852529" y="3063995"/>
              <a:ext cx="1898059" cy="730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33CCCC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3780DD6-85AD-A334-F25D-2CAB576C9324}"/>
              </a:ext>
            </a:extLst>
          </p:cNvPr>
          <p:cNvSpPr/>
          <p:nvPr/>
        </p:nvSpPr>
        <p:spPr>
          <a:xfrm>
            <a:off x="-500483" y="0"/>
            <a:ext cx="13192965" cy="6867611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BF3D2-6FA2-D93C-CDB2-105AA71CA1E3}"/>
              </a:ext>
            </a:extLst>
          </p:cNvPr>
          <p:cNvSpPr txBox="1"/>
          <p:nvPr/>
        </p:nvSpPr>
        <p:spPr>
          <a:xfrm>
            <a:off x="4135901" y="468027"/>
            <a:ext cx="5584874" cy="800219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tx1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hat Problem Are We Solving?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E6167-59C1-2D83-C9B2-E621F65C0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8408" y="122081"/>
            <a:ext cx="1316850" cy="123759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09544B8-2558-EC1F-CEF2-973490FCB3EC}"/>
              </a:ext>
            </a:extLst>
          </p:cNvPr>
          <p:cNvGrpSpPr/>
          <p:nvPr/>
        </p:nvGrpSpPr>
        <p:grpSpPr>
          <a:xfrm>
            <a:off x="4769842" y="1748957"/>
            <a:ext cx="6249090" cy="4413802"/>
            <a:chOff x="4769842" y="1584759"/>
            <a:chExt cx="6249090" cy="4578000"/>
          </a:xfrm>
        </p:grpSpPr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A643B668-E22A-A307-5AB1-BBCC5D0419CC}"/>
                </a:ext>
              </a:extLst>
            </p:cNvPr>
            <p:cNvSpPr/>
            <p:nvPr/>
          </p:nvSpPr>
          <p:spPr>
            <a:xfrm rot="10800000">
              <a:off x="4845108" y="1584759"/>
              <a:ext cx="6147884" cy="1421683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ounded Rectangle 4">
              <a:extLst>
                <a:ext uri="{FF2B5EF4-FFF2-40B4-BE49-F238E27FC236}">
                  <a16:creationId xmlns:a16="http://schemas.microsoft.com/office/drawing/2014/main" id="{BCD6CBFC-3CF9-B5FA-914C-1F70B3CC660B}"/>
                </a:ext>
              </a:extLst>
            </p:cNvPr>
            <p:cNvSpPr/>
            <p:nvPr/>
          </p:nvSpPr>
          <p:spPr>
            <a:xfrm rot="10800000">
              <a:off x="4845108" y="3156921"/>
              <a:ext cx="6147884" cy="1421683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ounded Rectangle 4">
              <a:extLst>
                <a:ext uri="{FF2B5EF4-FFF2-40B4-BE49-F238E27FC236}">
                  <a16:creationId xmlns:a16="http://schemas.microsoft.com/office/drawing/2014/main" id="{82E04787-7616-F9A5-02B6-9A070711F6B0}"/>
                </a:ext>
              </a:extLst>
            </p:cNvPr>
            <p:cNvSpPr/>
            <p:nvPr/>
          </p:nvSpPr>
          <p:spPr>
            <a:xfrm rot="10800000">
              <a:off x="4871048" y="4733854"/>
              <a:ext cx="6147884" cy="1421683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43E0D13-F85D-2B03-DF92-94C383C58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9280" b="31375"/>
            <a:stretch/>
          </p:blipFill>
          <p:spPr>
            <a:xfrm>
              <a:off x="4882402" y="3149699"/>
              <a:ext cx="6096005" cy="1751441"/>
            </a:xfrm>
            <a:prstGeom prst="rect">
              <a:avLst/>
            </a:prstGeom>
            <a:noFill/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BA5DCD7-3101-02C6-82B0-35C0E21C3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68809"/>
            <a:stretch/>
          </p:blipFill>
          <p:spPr>
            <a:xfrm>
              <a:off x="4845108" y="1677719"/>
              <a:ext cx="6096005" cy="1388439"/>
            </a:xfrm>
            <a:prstGeom prst="rect">
              <a:avLst/>
            </a:prstGeom>
            <a:noFill/>
          </p:spPr>
        </p:pic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6770AA0-282E-BCD5-C911-79A51C04F026}"/>
                </a:ext>
              </a:extLst>
            </p:cNvPr>
            <p:cNvSpPr/>
            <p:nvPr/>
          </p:nvSpPr>
          <p:spPr>
            <a:xfrm flipH="1">
              <a:off x="4775295" y="1646906"/>
              <a:ext cx="115585" cy="1349903"/>
            </a:xfrm>
            <a:prstGeom prst="roundRect">
              <a:avLst>
                <a:gd name="adj" fmla="val 29836"/>
              </a:avLst>
            </a:prstGeom>
            <a:solidFill>
              <a:srgbClr val="33CCCC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28CB3881-1FAF-0078-EF4D-2E2A324DFC79}"/>
                </a:ext>
              </a:extLst>
            </p:cNvPr>
            <p:cNvSpPr/>
            <p:nvPr/>
          </p:nvSpPr>
          <p:spPr>
            <a:xfrm flipH="1">
              <a:off x="4769842" y="3226270"/>
              <a:ext cx="115585" cy="1349903"/>
            </a:xfrm>
            <a:prstGeom prst="roundRect">
              <a:avLst>
                <a:gd name="adj" fmla="val 29836"/>
              </a:avLst>
            </a:prstGeom>
            <a:solidFill>
              <a:srgbClr val="33CCCC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8C7AC34F-943D-C115-0D7C-744149C085FE}"/>
                </a:ext>
              </a:extLst>
            </p:cNvPr>
            <p:cNvSpPr/>
            <p:nvPr/>
          </p:nvSpPr>
          <p:spPr>
            <a:xfrm flipH="1">
              <a:off x="4769842" y="4805634"/>
              <a:ext cx="115585" cy="1349903"/>
            </a:xfrm>
            <a:prstGeom prst="roundRect">
              <a:avLst>
                <a:gd name="adj" fmla="val 29836"/>
              </a:avLst>
            </a:prstGeom>
            <a:solidFill>
              <a:srgbClr val="33CCCC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E8D12F82-1C81-BBF0-BD46-52C8D8F19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2687"/>
            <a:stretch/>
          </p:blipFill>
          <p:spPr>
            <a:xfrm>
              <a:off x="4871048" y="4501770"/>
              <a:ext cx="6096005" cy="1660989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525555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>
            <a:off x="-3189266" y="-196948"/>
            <a:ext cx="7610187" cy="7862431"/>
            <a:chOff x="-3012247" y="-194578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3012247" y="-194578"/>
              <a:ext cx="7848000" cy="7848000"/>
              <a:chOff x="-2554003" y="-271320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554003" y="-271320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51483"/>
                <a:ext cx="1753849" cy="663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>
                <a:off x="134000" y="5836110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300115" y="438229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852529" y="3063995"/>
              <a:ext cx="1898059" cy="730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33CCCC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3780DD6-85AD-A334-F25D-2CAB576C9324}"/>
              </a:ext>
            </a:extLst>
          </p:cNvPr>
          <p:cNvSpPr/>
          <p:nvPr/>
        </p:nvSpPr>
        <p:spPr>
          <a:xfrm>
            <a:off x="-535000" y="0"/>
            <a:ext cx="13192965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BF3D2-6FA2-D93C-CDB2-105AA71CA1E3}"/>
              </a:ext>
            </a:extLst>
          </p:cNvPr>
          <p:cNvSpPr txBox="1"/>
          <p:nvPr/>
        </p:nvSpPr>
        <p:spPr>
          <a:xfrm>
            <a:off x="3989105" y="545716"/>
            <a:ext cx="748145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TOASOL Solve the Problem?</a:t>
            </a:r>
          </a:p>
          <a:p>
            <a:endParaRPr lang="en-US" sz="2800" b="1" dirty="0">
              <a:solidFill>
                <a:srgbClr val="33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TOASOL provides an integrated platform connecting:</a:t>
            </a:r>
          </a:p>
          <a:p>
            <a:endParaRPr lang="en-US" sz="2000" b="1" dirty="0">
              <a:solidFill>
                <a:schemeClr val="tx2">
                  <a:lumMod val="25000"/>
                  <a:lumOff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C0C892-3B99-EEDB-5973-366A4BAE17F5}"/>
              </a:ext>
            </a:extLst>
          </p:cNvPr>
          <p:cNvGrpSpPr/>
          <p:nvPr/>
        </p:nvGrpSpPr>
        <p:grpSpPr>
          <a:xfrm>
            <a:off x="4706823" y="2631806"/>
            <a:ext cx="7383217" cy="854542"/>
            <a:chOff x="773965" y="1828800"/>
            <a:chExt cx="11318402" cy="1093895"/>
          </a:xfr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8385AC-2A53-AB13-C651-CC50A0C01A16}"/>
                </a:ext>
              </a:extLst>
            </p:cNvPr>
            <p:cNvSpPr txBox="1"/>
            <p:nvPr/>
          </p:nvSpPr>
          <p:spPr>
            <a:xfrm>
              <a:off x="1022662" y="1828800"/>
              <a:ext cx="789314" cy="590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24BE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/>
                </a:rPr>
                <a:t>01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A7BF413-37AC-1C4F-0319-272D57AF90F3}"/>
                </a:ext>
              </a:extLst>
            </p:cNvPr>
            <p:cNvSpPr txBox="1"/>
            <p:nvPr/>
          </p:nvSpPr>
          <p:spPr>
            <a:xfrm>
              <a:off x="773965" y="2331720"/>
              <a:ext cx="1286710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chemeClr val="accent1">
                      <a:lumMod val="50000"/>
                    </a:schemeClr>
                  </a:solidFill>
                  <a:latin typeface="Aptos"/>
                </a:rPr>
                <a:t>Find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6071B4-80F6-8C91-B565-F66B6C88AA5A}"/>
                </a:ext>
              </a:extLst>
            </p:cNvPr>
            <p:cNvSpPr txBox="1"/>
            <p:nvPr/>
          </p:nvSpPr>
          <p:spPr>
            <a:xfrm>
              <a:off x="1908836" y="2331720"/>
              <a:ext cx="601838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7E57C2"/>
                  </a:solidFill>
                  <a:latin typeface="Aptos"/>
                </a:rPr>
                <a:t>→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FA29AE-19C0-4D41-A117-4CDA3D2DE286}"/>
                </a:ext>
              </a:extLst>
            </p:cNvPr>
            <p:cNvSpPr txBox="1"/>
            <p:nvPr/>
          </p:nvSpPr>
          <p:spPr>
            <a:xfrm>
              <a:off x="2850646" y="1828800"/>
              <a:ext cx="789314" cy="590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24BE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/>
                </a:rPr>
                <a:t>02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A3C6B8C-D96D-7A5A-AED6-B950BE7E09F5}"/>
                </a:ext>
              </a:extLst>
            </p:cNvPr>
            <p:cNvSpPr txBox="1"/>
            <p:nvPr/>
          </p:nvSpPr>
          <p:spPr>
            <a:xfrm>
              <a:off x="2429115" y="2300911"/>
              <a:ext cx="1456750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chemeClr val="accent1">
                      <a:lumMod val="50000"/>
                    </a:schemeClr>
                  </a:solidFill>
                  <a:latin typeface="Aptos"/>
                </a:rPr>
                <a:t>Book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6DC83A4-8DEE-86C7-C63E-41190DA0BCC7}"/>
                </a:ext>
              </a:extLst>
            </p:cNvPr>
            <p:cNvSpPr txBox="1"/>
            <p:nvPr/>
          </p:nvSpPr>
          <p:spPr>
            <a:xfrm>
              <a:off x="3720929" y="2331720"/>
              <a:ext cx="601838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7E57C2"/>
                  </a:solidFill>
                  <a:latin typeface="Aptos"/>
                </a:rPr>
                <a:t>→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035916-3445-141D-41F3-7A1AEB420013}"/>
                </a:ext>
              </a:extLst>
            </p:cNvPr>
            <p:cNvSpPr txBox="1"/>
            <p:nvPr/>
          </p:nvSpPr>
          <p:spPr>
            <a:xfrm>
              <a:off x="4679718" y="1828800"/>
              <a:ext cx="789314" cy="590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24BE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/>
                </a:rPr>
                <a:t>03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B602B9-6DFD-0F57-2966-4848E9583B48}"/>
                </a:ext>
              </a:extLst>
            </p:cNvPr>
            <p:cNvSpPr txBox="1"/>
            <p:nvPr/>
          </p:nvSpPr>
          <p:spPr>
            <a:xfrm>
              <a:off x="4200415" y="2331720"/>
              <a:ext cx="1829147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chemeClr val="accent1">
                      <a:lumMod val="50000"/>
                    </a:schemeClr>
                  </a:solidFill>
                  <a:latin typeface="Aptos"/>
                </a:rPr>
                <a:t>Attend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D2F63-2807-FA42-0753-3EBDE438DDB6}"/>
                </a:ext>
              </a:extLst>
            </p:cNvPr>
            <p:cNvSpPr txBox="1"/>
            <p:nvPr/>
          </p:nvSpPr>
          <p:spPr>
            <a:xfrm>
              <a:off x="5807595" y="2331720"/>
              <a:ext cx="601838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7E57C2"/>
                  </a:solidFill>
                  <a:latin typeface="Aptos"/>
                </a:rPr>
                <a:t>→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348E292-651E-7B9E-65A3-B50D84DFF2DF}"/>
                </a:ext>
              </a:extLst>
            </p:cNvPr>
            <p:cNvSpPr txBox="1"/>
            <p:nvPr/>
          </p:nvSpPr>
          <p:spPr>
            <a:xfrm>
              <a:off x="6691082" y="1828800"/>
              <a:ext cx="789314" cy="590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24BE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/>
                </a:rPr>
                <a:t>04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6CAAF9-C00A-3CCA-5AEA-B31CCD255D98}"/>
                </a:ext>
              </a:extLst>
            </p:cNvPr>
            <p:cNvSpPr txBox="1"/>
            <p:nvPr/>
          </p:nvSpPr>
          <p:spPr>
            <a:xfrm>
              <a:off x="6217826" y="2331720"/>
              <a:ext cx="2187219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chemeClr val="accent1">
                      <a:lumMod val="50000"/>
                    </a:schemeClr>
                  </a:solidFill>
                  <a:latin typeface="Aptos"/>
                </a:rPr>
                <a:t>Practice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F699B60-6119-808A-BE86-E549DCA46E4F}"/>
                </a:ext>
              </a:extLst>
            </p:cNvPr>
            <p:cNvSpPr txBox="1"/>
            <p:nvPr/>
          </p:nvSpPr>
          <p:spPr>
            <a:xfrm>
              <a:off x="8149353" y="2364699"/>
              <a:ext cx="601838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7E57C2"/>
                  </a:solidFill>
                  <a:latin typeface="Aptos"/>
                </a:rPr>
                <a:t>→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E681DA1-FF20-2C9E-E423-67627CA3C739}"/>
                </a:ext>
              </a:extLst>
            </p:cNvPr>
            <p:cNvSpPr txBox="1"/>
            <p:nvPr/>
          </p:nvSpPr>
          <p:spPr>
            <a:xfrm>
              <a:off x="8833396" y="1828800"/>
              <a:ext cx="789314" cy="590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rgbClr val="24BEA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ptos"/>
                </a:rPr>
                <a:t>05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3842DD0-D202-23B4-3B9C-E64E4B07A06D}"/>
                </a:ext>
              </a:extLst>
            </p:cNvPr>
            <p:cNvSpPr txBox="1"/>
            <p:nvPr/>
          </p:nvSpPr>
          <p:spPr>
            <a:xfrm>
              <a:off x="8593104" y="2331720"/>
              <a:ext cx="1523786" cy="55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2400" b="1" dirty="0">
                  <a:solidFill>
                    <a:schemeClr val="accent1">
                      <a:lumMod val="50000"/>
                    </a:schemeClr>
                  </a:solidFill>
                  <a:latin typeface="Aptos"/>
                </a:rPr>
                <a:t>Track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8F0B99E-1595-0F84-9D67-21F91472485C}"/>
                </a:ext>
              </a:extLst>
            </p:cNvPr>
            <p:cNvSpPr txBox="1"/>
            <p:nvPr/>
          </p:nvSpPr>
          <p:spPr>
            <a:xfrm>
              <a:off x="10785483" y="1828800"/>
              <a:ext cx="283191" cy="5909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endParaRPr sz="2400" b="1" dirty="0">
                <a:solidFill>
                  <a:srgbClr val="24BEA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7B98027-64C3-65A9-AFA7-E0CC7328C357}"/>
                </a:ext>
              </a:extLst>
            </p:cNvPr>
            <p:cNvSpPr txBox="1"/>
            <p:nvPr/>
          </p:nvSpPr>
          <p:spPr>
            <a:xfrm>
              <a:off x="9950278" y="2331720"/>
              <a:ext cx="2142089" cy="5909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endParaRPr sz="2400" b="1" dirty="0">
                <a:solidFill>
                  <a:schemeClr val="accent1">
                    <a:lumMod val="50000"/>
                  </a:schemeClr>
                </a:solidFill>
                <a:latin typeface="Aptos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A705EE2-AD2C-DE92-8541-0E24F14F8C38}"/>
              </a:ext>
            </a:extLst>
          </p:cNvPr>
          <p:cNvSpPr txBox="1"/>
          <p:nvPr/>
        </p:nvSpPr>
        <p:spPr>
          <a:xfrm>
            <a:off x="4647105" y="3537074"/>
            <a:ext cx="1133715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the nearest suitable center.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48E812-5955-DCCD-E087-49748993355E}"/>
              </a:ext>
            </a:extLst>
          </p:cNvPr>
          <p:cNvSpPr txBox="1"/>
          <p:nvPr/>
        </p:nvSpPr>
        <p:spPr>
          <a:xfrm>
            <a:off x="5712587" y="3537074"/>
            <a:ext cx="130919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and pay for sessions online</a:t>
            </a:r>
            <a:endParaRPr lang="ar-EG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53BBAC-42CD-C70F-3EC1-E94DE8F8F551}"/>
              </a:ext>
            </a:extLst>
          </p:cNvPr>
          <p:cNvSpPr txBox="1"/>
          <p:nvPr/>
        </p:nvSpPr>
        <p:spPr>
          <a:xfrm>
            <a:off x="6961319" y="3541161"/>
            <a:ext cx="130919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Attend the offline therapy session</a:t>
            </a:r>
            <a:endParaRPr lang="ar-EG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4E3FC3-68FF-B236-AFFF-C599BD033B4B}"/>
              </a:ext>
            </a:extLst>
          </p:cNvPr>
          <p:cNvSpPr txBox="1"/>
          <p:nvPr/>
        </p:nvSpPr>
        <p:spPr>
          <a:xfrm>
            <a:off x="8293593" y="3537074"/>
            <a:ext cx="1800872" cy="1938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Continue training at home through videos, exercises and games</a:t>
            </a:r>
            <a:endParaRPr lang="ar-EG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81AE38-86BE-A72F-1880-155C3BFC1852}"/>
              </a:ext>
            </a:extLst>
          </p:cNvPr>
          <p:cNvSpPr txBox="1"/>
          <p:nvPr/>
        </p:nvSpPr>
        <p:spPr>
          <a:xfrm>
            <a:off x="9910524" y="3537074"/>
            <a:ext cx="1656041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the child performance progress</a:t>
            </a:r>
            <a:endParaRPr lang="ar-EG" sz="2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BC403CD-02A1-6860-0248-4129348902F0}"/>
              </a:ext>
            </a:extLst>
          </p:cNvPr>
          <p:cNvGrpSpPr/>
          <p:nvPr/>
        </p:nvGrpSpPr>
        <p:grpSpPr>
          <a:xfrm>
            <a:off x="5047699" y="5795157"/>
            <a:ext cx="5640211" cy="689331"/>
            <a:chOff x="1828800" y="4754880"/>
            <a:chExt cx="8503920" cy="731520"/>
          </a:xfr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tx2"/>
              </a:gs>
              <a:gs pos="43000">
                <a:schemeClr val="accent1">
                  <a:lumMod val="75000"/>
                </a:schemeClr>
              </a:gs>
              <a:gs pos="0">
                <a:schemeClr val="accent1">
                  <a:lumMod val="75000"/>
                </a:schemeClr>
              </a:gs>
            </a:gsLst>
            <a:path path="rect">
              <a:fillToRect l="100000" t="100000"/>
            </a:path>
            <a:tileRect r="-100000" b="-100000"/>
          </a:gradFill>
          <a:effectLst>
            <a:outerShdw blurRad="50800" dist="38100" dir="2700000" algn="tl" rotWithShape="0">
              <a:schemeClr val="tx1">
                <a:alpha val="70000"/>
              </a:schemeClr>
            </a:outerShdw>
          </a:effectLst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046FFBF-BF87-35E2-1794-6F850E3F4754}"/>
                </a:ext>
              </a:extLst>
            </p:cNvPr>
            <p:cNvSpPr txBox="1"/>
            <p:nvPr/>
          </p:nvSpPr>
          <p:spPr>
            <a:xfrm>
              <a:off x="1828800" y="4846320"/>
              <a:ext cx="8503920" cy="548640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/>
              <a:r>
                <a:rPr sz="2300" b="1">
                  <a:solidFill>
                    <a:srgbClr val="FFFFFF"/>
                  </a:solidFill>
                  <a:latin typeface="Aptos"/>
                </a:rPr>
                <a:t>OFFLINE + ONLINE = CONTINUOUS CARE</a:t>
              </a:r>
            </a:p>
          </p:txBody>
        </p:sp>
        <p:sp>
          <p:nvSpPr>
            <p:cNvPr id="38" name="Rounded Rectangle 28">
              <a:extLst>
                <a:ext uri="{FF2B5EF4-FFF2-40B4-BE49-F238E27FC236}">
                  <a16:creationId xmlns:a16="http://schemas.microsoft.com/office/drawing/2014/main" id="{5664EF03-BE90-7703-8B98-279741C01CF9}"/>
                </a:ext>
              </a:extLst>
            </p:cNvPr>
            <p:cNvSpPr/>
            <p:nvPr/>
          </p:nvSpPr>
          <p:spPr>
            <a:xfrm>
              <a:off x="1828800" y="4754880"/>
              <a:ext cx="8503920" cy="731520"/>
            </a:xfrm>
            <a:prstGeom prst="roundRect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16C36D1-5C54-1292-AB08-D3DD8AD8A829}"/>
                </a:ext>
              </a:extLst>
            </p:cNvPr>
            <p:cNvSpPr txBox="1"/>
            <p:nvPr/>
          </p:nvSpPr>
          <p:spPr>
            <a:xfrm>
              <a:off x="3462297" y="4928616"/>
              <a:ext cx="5236925" cy="338554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 algn="ctr"/>
              <a:r>
                <a:rPr sz="16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OFFLINE + ONLINE = CONTINUOUS CARE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50BD48CA-28A4-AD53-8EE9-80775C9BF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2137" y="127439"/>
            <a:ext cx="1319706" cy="123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150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 rot="5400000">
            <a:off x="-2869375" y="-154380"/>
            <a:ext cx="7848000" cy="7848000"/>
            <a:chOff x="-2857500" y="-152400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2857500" y="-152400"/>
              <a:ext cx="7848000" cy="7848000"/>
              <a:chOff x="-2413416" y="-232347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413416" y="-232347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61531"/>
                <a:ext cx="1753849" cy="64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>
                <a:off x="439998" y="5911004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274588" y="366903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761291" y="3417658"/>
              <a:ext cx="18980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911C456-76CB-7CF4-E4D9-6FD8EBDA471F}"/>
              </a:ext>
            </a:extLst>
          </p:cNvPr>
          <p:cNvSpPr/>
          <p:nvPr/>
        </p:nvSpPr>
        <p:spPr>
          <a:xfrm>
            <a:off x="-25691" y="0"/>
            <a:ext cx="12540343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9BD56A-DD69-FB9F-F797-8C1E20E120AA}"/>
              </a:ext>
            </a:extLst>
          </p:cNvPr>
          <p:cNvSpPr txBox="1"/>
          <p:nvPr/>
        </p:nvSpPr>
        <p:spPr>
          <a:xfrm>
            <a:off x="4734120" y="598471"/>
            <a:ext cx="445324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Uses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TOASOL?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664D12-9A88-0BA4-71F2-5DAED3660A20}"/>
              </a:ext>
            </a:extLst>
          </p:cNvPr>
          <p:cNvGrpSpPr/>
          <p:nvPr/>
        </p:nvGrpSpPr>
        <p:grpSpPr>
          <a:xfrm>
            <a:off x="5296395" y="1399182"/>
            <a:ext cx="6685808" cy="4831196"/>
            <a:chOff x="685800" y="1554480"/>
            <a:chExt cx="10881360" cy="3931920"/>
          </a:xfrm>
        </p:grpSpPr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0FC3063B-3FF5-AEF4-7DDD-BF846A4F88F0}"/>
                </a:ext>
              </a:extLst>
            </p:cNvPr>
            <p:cNvSpPr/>
            <p:nvPr/>
          </p:nvSpPr>
          <p:spPr>
            <a:xfrm>
              <a:off x="685800" y="1554480"/>
              <a:ext cx="5257800" cy="178308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23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499D9D6-799A-EC03-6274-96FDB732060C}"/>
                </a:ext>
              </a:extLst>
            </p:cNvPr>
            <p:cNvSpPr txBox="1"/>
            <p:nvPr/>
          </p:nvSpPr>
          <p:spPr>
            <a:xfrm>
              <a:off x="1093562" y="1719116"/>
              <a:ext cx="2301016" cy="67631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txBody>
            <a:bodyPr wrap="square">
              <a:spAutoFit/>
            </a:bodyPr>
            <a:lstStyle/>
            <a:p>
              <a:pPr defTabSz="457200">
                <a:defRPr/>
              </a:pPr>
              <a:r>
                <a:rPr lang="en-US" sz="2400" b="1" dirty="0">
                  <a:solidFill>
                    <a:srgbClr val="101B3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Parents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5E6DF9-CA96-C58F-B933-A4FB66DD9D03}"/>
                </a:ext>
              </a:extLst>
            </p:cNvPr>
            <p:cNvSpPr txBox="1"/>
            <p:nvPr/>
          </p:nvSpPr>
          <p:spPr>
            <a:xfrm>
              <a:off x="914400" y="2212848"/>
              <a:ext cx="4370608" cy="867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50" b="0" i="0" u="none" strike="noStrike" kern="0" cap="none" spc="0" normalizeH="0" baseline="0" noProof="0" dirty="0">
                <a:ln>
                  <a:noFill/>
                </a:ln>
                <a:solidFill>
                  <a:srgbClr val="5F6978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Rounded Rectangle 8">
              <a:extLst>
                <a:ext uri="{FF2B5EF4-FFF2-40B4-BE49-F238E27FC236}">
                  <a16:creationId xmlns:a16="http://schemas.microsoft.com/office/drawing/2014/main" id="{27D75C46-6F74-7BFD-1ABA-2B6F2BD4BADA}"/>
                </a:ext>
              </a:extLst>
            </p:cNvPr>
            <p:cNvSpPr/>
            <p:nvPr/>
          </p:nvSpPr>
          <p:spPr>
            <a:xfrm>
              <a:off x="6309360" y="1554480"/>
              <a:ext cx="5257800" cy="1783080"/>
            </a:xfrm>
            <a:prstGeom prst="round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4ECDBD-7AF2-646F-94A7-65A74A0FD075}"/>
                </a:ext>
              </a:extLst>
            </p:cNvPr>
            <p:cNvSpPr txBox="1"/>
            <p:nvPr/>
          </p:nvSpPr>
          <p:spPr>
            <a:xfrm>
              <a:off x="6537960" y="2212848"/>
              <a:ext cx="4800600" cy="9936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50" b="0" i="0" u="none" strike="noStrike" kern="0" cap="none" spc="0" normalizeH="0" baseline="0" noProof="0" dirty="0">
                <a:ln>
                  <a:noFill/>
                </a:ln>
                <a:solidFill>
                  <a:srgbClr val="5F6978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Rounded Rectangle 12">
              <a:extLst>
                <a:ext uri="{FF2B5EF4-FFF2-40B4-BE49-F238E27FC236}">
                  <a16:creationId xmlns:a16="http://schemas.microsoft.com/office/drawing/2014/main" id="{96F24186-BE8F-5AB9-8DD8-26FF9C210967}"/>
                </a:ext>
              </a:extLst>
            </p:cNvPr>
            <p:cNvSpPr/>
            <p:nvPr/>
          </p:nvSpPr>
          <p:spPr>
            <a:xfrm>
              <a:off x="685800" y="3703320"/>
              <a:ext cx="5257800" cy="178308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49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3BCFAE-6445-2F3F-EE87-97FF4914AEC9}"/>
                </a:ext>
              </a:extLst>
            </p:cNvPr>
            <p:cNvSpPr txBox="1"/>
            <p:nvPr/>
          </p:nvSpPr>
          <p:spPr>
            <a:xfrm>
              <a:off x="914400" y="3904487"/>
              <a:ext cx="300655" cy="37573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2EE3BB-7E9C-6B52-57F8-147365FA393F}"/>
                </a:ext>
              </a:extLst>
            </p:cNvPr>
            <p:cNvSpPr txBox="1"/>
            <p:nvPr/>
          </p:nvSpPr>
          <p:spPr>
            <a:xfrm>
              <a:off x="914399" y="4361688"/>
              <a:ext cx="4370608" cy="785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50" b="0" i="0" u="none" strike="noStrike" kern="0" cap="none" spc="0" normalizeH="0" baseline="0" noProof="0" dirty="0">
                <a:ln>
                  <a:noFill/>
                </a:ln>
                <a:solidFill>
                  <a:srgbClr val="5F6978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Rounded Rectangle 16">
              <a:extLst>
                <a:ext uri="{FF2B5EF4-FFF2-40B4-BE49-F238E27FC236}">
                  <a16:creationId xmlns:a16="http://schemas.microsoft.com/office/drawing/2014/main" id="{B8193740-B581-A1D9-EB16-A39B55D5D0A8}"/>
                </a:ext>
              </a:extLst>
            </p:cNvPr>
            <p:cNvSpPr/>
            <p:nvPr/>
          </p:nvSpPr>
          <p:spPr>
            <a:xfrm>
              <a:off x="6309360" y="3703320"/>
              <a:ext cx="5257800" cy="1783080"/>
            </a:xfrm>
            <a:prstGeom prst="roundRect">
              <a:avLst/>
            </a:prstGeom>
            <a:gradFill>
              <a:gsLst>
                <a:gs pos="0">
                  <a:schemeClr val="bg1"/>
                </a:gs>
                <a:gs pos="23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2C81E7A-3006-EA15-D05E-1E7DAD031052}"/>
                </a:ext>
              </a:extLst>
            </p:cNvPr>
            <p:cNvSpPr txBox="1"/>
            <p:nvPr/>
          </p:nvSpPr>
          <p:spPr>
            <a:xfrm>
              <a:off x="6748275" y="3844639"/>
              <a:ext cx="2330302" cy="37573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Children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54C6A4B-5C94-715B-BD30-C368E9180631}"/>
                </a:ext>
              </a:extLst>
            </p:cNvPr>
            <p:cNvSpPr txBox="1"/>
            <p:nvPr/>
          </p:nvSpPr>
          <p:spPr>
            <a:xfrm>
              <a:off x="6537960" y="4361687"/>
              <a:ext cx="4482307" cy="8855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250" b="0" i="0" u="none" strike="noStrike" kern="0" cap="none" spc="0" normalizeH="0" baseline="0" noProof="0" dirty="0">
                <a:ln>
                  <a:noFill/>
                </a:ln>
                <a:solidFill>
                  <a:srgbClr val="5F6978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9B2B5F4-763A-AFAC-ED83-9E2A77F64179}"/>
              </a:ext>
            </a:extLst>
          </p:cNvPr>
          <p:cNvSpPr txBox="1"/>
          <p:nvPr/>
        </p:nvSpPr>
        <p:spPr>
          <a:xfrm>
            <a:off x="5504299" y="4213127"/>
            <a:ext cx="1580182" cy="46166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Centers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25B03C-ADD6-AAE0-8157-03C9ECB11F43}"/>
              </a:ext>
            </a:extLst>
          </p:cNvPr>
          <p:cNvSpPr txBox="1"/>
          <p:nvPr/>
        </p:nvSpPr>
        <p:spPr>
          <a:xfrm>
            <a:off x="9021347" y="1646359"/>
            <a:ext cx="1960254" cy="461665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solidFill>
                  <a:srgbClr val="101B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alis</a:t>
            </a:r>
            <a:r>
              <a:rPr lang="en-US" sz="2400" b="1" dirty="0">
                <a:solidFill>
                  <a:srgbClr val="101B3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0C6B4A-CDB3-39C2-0F4C-2A5E3CC66927}"/>
              </a:ext>
            </a:extLst>
          </p:cNvPr>
          <p:cNvSpPr txBox="1"/>
          <p:nvPr/>
        </p:nvSpPr>
        <p:spPr>
          <a:xfrm>
            <a:off x="5471565" y="1799398"/>
            <a:ext cx="32305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suitable centers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sessions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online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their child's progress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 home activities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8BE891-6D52-0879-9924-38C8C6C16705}"/>
              </a:ext>
            </a:extLst>
          </p:cNvPr>
          <p:cNvSpPr txBox="1"/>
          <p:nvPr/>
        </p:nvSpPr>
        <p:spPr>
          <a:xfrm>
            <a:off x="8986265" y="2131312"/>
            <a:ext cx="30189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children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therapy plans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progress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527BC8-43A3-BB25-7C12-80A8BB9A428C}"/>
              </a:ext>
            </a:extLst>
          </p:cNvPr>
          <p:cNvSpPr txBox="1"/>
          <p:nvPr/>
        </p:nvSpPr>
        <p:spPr>
          <a:xfrm>
            <a:off x="5444743" y="4436076"/>
            <a:ext cx="28393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appointments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subscriptions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 analytics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D27396-1C3E-6DBF-2791-92EE8D7C80AE}"/>
              </a:ext>
            </a:extLst>
          </p:cNvPr>
          <p:cNvSpPr txBox="1"/>
          <p:nvPr/>
        </p:nvSpPr>
        <p:spPr>
          <a:xfrm>
            <a:off x="9029844" y="4449883"/>
            <a:ext cx="36110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Educational games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Attend physical sessions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34E2B0A-D24D-7E0E-77BA-EEA16D6819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0252" y="82103"/>
            <a:ext cx="1316850" cy="123759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050BB1-A61E-D05E-CB21-6DFEE1056399}"/>
              </a:ext>
            </a:extLst>
          </p:cNvPr>
          <p:cNvSpPr/>
          <p:nvPr/>
        </p:nvSpPr>
        <p:spPr>
          <a:xfrm flipH="1">
            <a:off x="5296395" y="1466757"/>
            <a:ext cx="81682" cy="2092664"/>
          </a:xfrm>
          <a:prstGeom prst="roundRect">
            <a:avLst>
              <a:gd name="adj" fmla="val 2395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F1611EA-6756-62D6-8643-46FB9BD02431}"/>
              </a:ext>
            </a:extLst>
          </p:cNvPr>
          <p:cNvSpPr/>
          <p:nvPr/>
        </p:nvSpPr>
        <p:spPr>
          <a:xfrm flipH="1">
            <a:off x="8751201" y="4084807"/>
            <a:ext cx="93036" cy="2092664"/>
          </a:xfrm>
          <a:prstGeom prst="roundRect">
            <a:avLst>
              <a:gd name="adj" fmla="val 2395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DECBCE-CDF9-C31F-50C6-40CE180AF485}"/>
              </a:ext>
            </a:extLst>
          </p:cNvPr>
          <p:cNvSpPr/>
          <p:nvPr/>
        </p:nvSpPr>
        <p:spPr>
          <a:xfrm flipH="1">
            <a:off x="8738916" y="1461060"/>
            <a:ext cx="81682" cy="2092664"/>
          </a:xfrm>
          <a:prstGeom prst="roundRect">
            <a:avLst>
              <a:gd name="adj" fmla="val 2395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3C6BE8-8033-8D4E-2E1A-9D749531C438}"/>
              </a:ext>
            </a:extLst>
          </p:cNvPr>
          <p:cNvSpPr/>
          <p:nvPr/>
        </p:nvSpPr>
        <p:spPr>
          <a:xfrm flipH="1">
            <a:off x="5291535" y="4088600"/>
            <a:ext cx="81682" cy="2092664"/>
          </a:xfrm>
          <a:prstGeom prst="roundRect">
            <a:avLst>
              <a:gd name="adj" fmla="val 23950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80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colorTemperature colorTemp="7035"/>
                    </a14:imgEffect>
                    <a14:imgEffect>
                      <a14:saturation sat="66000"/>
                    </a14:imgEffect>
                    <a14:imgEffect>
                      <a14:brightnessContrast bright="-9000"/>
                    </a14:imgEffect>
                  </a14:imgLayer>
                </a14:imgProps>
              </a:ext>
            </a:extLst>
          </a:blip>
          <a:srcRect/>
          <a:stretch>
            <a:fillRect t="-13000" r="-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 rot="10800000">
            <a:off x="-2869375" y="-154380"/>
            <a:ext cx="7848000" cy="7848000"/>
            <a:chOff x="-2857500" y="-152400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2857500" y="-152400"/>
              <a:ext cx="7848000" cy="7848000"/>
              <a:chOff x="-2413416" y="-232347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413416" y="-232347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61531"/>
                <a:ext cx="1753849" cy="64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 rot="10800000">
                <a:off x="300115" y="5784273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66464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274588" y="366903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761291" y="3417658"/>
              <a:ext cx="18980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586A659-1C9B-25C9-0AEA-3EA734CDFE13}"/>
              </a:ext>
            </a:extLst>
          </p:cNvPr>
          <p:cNvSpPr/>
          <p:nvPr/>
        </p:nvSpPr>
        <p:spPr>
          <a:xfrm>
            <a:off x="0" y="0"/>
            <a:ext cx="12540343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3EEB2A-1D43-93D2-6A5B-1AFFAEAEE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275" y="92068"/>
            <a:ext cx="1316850" cy="1237595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DCC84D0-D8C5-8935-7B0D-EA6AE1CDC40A}"/>
              </a:ext>
            </a:extLst>
          </p:cNvPr>
          <p:cNvSpPr txBox="1"/>
          <p:nvPr/>
        </p:nvSpPr>
        <p:spPr>
          <a:xfrm>
            <a:off x="4692342" y="562370"/>
            <a:ext cx="5155475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F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Are Our Competitors?</a:t>
            </a:r>
          </a:p>
        </p:txBody>
      </p: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E29C181E-13F3-FDDA-163C-0D76F77C4078}"/>
              </a:ext>
            </a:extLst>
          </p:cNvPr>
          <p:cNvSpPr/>
          <p:nvPr/>
        </p:nvSpPr>
        <p:spPr>
          <a:xfrm>
            <a:off x="5194024" y="4142268"/>
            <a:ext cx="2639296" cy="2159892"/>
          </a:xfrm>
          <a:prstGeom prst="roundRect">
            <a:avLst>
              <a:gd name="adj" fmla="val 17274"/>
            </a:avLst>
          </a:prstGeom>
          <a:gradFill flip="none" rotWithShape="1">
            <a:gsLst>
              <a:gs pos="0">
                <a:schemeClr val="bg1"/>
              </a:gs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rect">
              <a:fillToRect l="100000" b="100000"/>
            </a:path>
            <a:tileRect t="-100000" r="-100000"/>
          </a:gradFill>
          <a:ln w="9525" cap="flat" cmpd="sng" algn="ctr">
            <a:solidFill>
              <a:schemeClr val="bg1"/>
            </a:solidFill>
            <a:prstDash val="solid"/>
          </a:ln>
          <a:effectLst>
            <a:outerShdw blurRad="50800" dist="38100" dir="2700000" algn="tl" rotWithShape="0">
              <a:prstClr val="black">
                <a:alpha val="9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435853C-F99C-2B66-4C85-02E7B2109184}"/>
              </a:ext>
            </a:extLst>
          </p:cNvPr>
          <p:cNvGrpSpPr/>
          <p:nvPr/>
        </p:nvGrpSpPr>
        <p:grpSpPr>
          <a:xfrm>
            <a:off x="5194024" y="1805016"/>
            <a:ext cx="5893076" cy="2103732"/>
            <a:chOff x="5194024" y="1477216"/>
            <a:chExt cx="5304806" cy="1750972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C8D8862-A293-D799-D19B-F004CC78BBF1}"/>
                </a:ext>
              </a:extLst>
            </p:cNvPr>
            <p:cNvGrpSpPr/>
            <p:nvPr/>
          </p:nvGrpSpPr>
          <p:grpSpPr>
            <a:xfrm>
              <a:off x="5194024" y="1477216"/>
              <a:ext cx="5304806" cy="1750972"/>
              <a:chOff x="5159211" y="2566080"/>
              <a:chExt cx="5304806" cy="1750972"/>
            </a:xfrm>
          </p:grpSpPr>
          <p:sp>
            <p:nvSpPr>
              <p:cNvPr id="51" name="Rounded Rectangle 4">
                <a:extLst>
                  <a:ext uri="{FF2B5EF4-FFF2-40B4-BE49-F238E27FC236}">
                    <a16:creationId xmlns:a16="http://schemas.microsoft.com/office/drawing/2014/main" id="{4BF73876-A753-43D3-F570-E5DDD60683D4}"/>
                  </a:ext>
                </a:extLst>
              </p:cNvPr>
              <p:cNvSpPr/>
              <p:nvPr/>
            </p:nvSpPr>
            <p:spPr>
              <a:xfrm>
                <a:off x="5159211" y="2566080"/>
                <a:ext cx="4811631" cy="1750972"/>
              </a:xfrm>
              <a:prstGeom prst="roundRect">
                <a:avLst>
                  <a:gd name="adj" fmla="val 20425"/>
                </a:avLst>
              </a:prstGeom>
              <a:gradFill flip="none" rotWithShape="1">
                <a:gsLst>
                  <a:gs pos="0">
                    <a:schemeClr val="bg1"/>
                  </a:gs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path path="rect">
                  <a:fillToRect l="100000" b="100000"/>
                </a:path>
                <a:tileRect t="-100000" r="-100000"/>
              </a:gradFill>
              <a:ln w="9525" cap="flat" cmpd="sng" algn="ctr">
                <a:solidFill>
                  <a:schemeClr val="bg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9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056CAC-63C6-4217-5453-9B6E8FF29064}"/>
                  </a:ext>
                </a:extLst>
              </p:cNvPr>
              <p:cNvSpPr txBox="1"/>
              <p:nvPr/>
            </p:nvSpPr>
            <p:spPr>
              <a:xfrm>
                <a:off x="5300370" y="2683100"/>
                <a:ext cx="5163647" cy="1485772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Indirect Competitors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Healthcare Booking Platforms — e.g., </a:t>
                </a:r>
                <a:r>
                  <a:rPr lang="en-US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Vezeeta</a:t>
                </a: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Speech &amp; Educational Apps — provide digital exercises and learning activities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Clinic Management Systems — help therapy centers manage appointments and patients</a:t>
                </a:r>
              </a:p>
            </p:txBody>
          </p:sp>
        </p:grp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0F8C2D6-6281-61F9-73CD-FB7A6380FBC3}"/>
                </a:ext>
              </a:extLst>
            </p:cNvPr>
            <p:cNvSpPr/>
            <p:nvPr/>
          </p:nvSpPr>
          <p:spPr>
            <a:xfrm flipH="1">
              <a:off x="5219510" y="1582825"/>
              <a:ext cx="90187" cy="1645363"/>
            </a:xfrm>
            <a:prstGeom prst="roundRect">
              <a:avLst>
                <a:gd name="adj" fmla="val 23950"/>
              </a:avLst>
            </a:prstGeom>
            <a:solidFill>
              <a:srgbClr val="E5FF4B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88844B7-0713-44AF-1797-7974A0E03AAA}"/>
              </a:ext>
            </a:extLst>
          </p:cNvPr>
          <p:cNvGrpSpPr/>
          <p:nvPr/>
        </p:nvGrpSpPr>
        <p:grpSpPr>
          <a:xfrm>
            <a:off x="7919757" y="4142267"/>
            <a:ext cx="4272243" cy="2133824"/>
            <a:chOff x="5194024" y="3495594"/>
            <a:chExt cx="4921987" cy="163794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1755BAD2-2543-4BA4-EB05-FB2277456E4B}"/>
                </a:ext>
              </a:extLst>
            </p:cNvPr>
            <p:cNvGrpSpPr/>
            <p:nvPr/>
          </p:nvGrpSpPr>
          <p:grpSpPr>
            <a:xfrm>
              <a:off x="5194024" y="3495594"/>
              <a:ext cx="4921987" cy="1637946"/>
              <a:chOff x="7565028" y="4762379"/>
              <a:chExt cx="4847748" cy="1637946"/>
            </a:xfrm>
          </p:grpSpPr>
          <p:sp>
            <p:nvSpPr>
              <p:cNvPr id="49" name="Rounded Rectangle 4">
                <a:extLst>
                  <a:ext uri="{FF2B5EF4-FFF2-40B4-BE49-F238E27FC236}">
                    <a16:creationId xmlns:a16="http://schemas.microsoft.com/office/drawing/2014/main" id="{5791CE17-0550-FEA6-B140-ADA759AB1BCD}"/>
                  </a:ext>
                </a:extLst>
              </p:cNvPr>
              <p:cNvSpPr/>
              <p:nvPr/>
            </p:nvSpPr>
            <p:spPr>
              <a:xfrm>
                <a:off x="7565028" y="4762379"/>
                <a:ext cx="4718098" cy="1637946"/>
              </a:xfrm>
              <a:prstGeom prst="roundRect">
                <a:avLst>
                  <a:gd name="adj" fmla="val 17593"/>
                </a:avLst>
              </a:prstGeom>
              <a:gradFill flip="none" rotWithShape="1">
                <a:gsLst>
                  <a:gs pos="0">
                    <a:schemeClr val="bg1"/>
                  </a:gs>
                  <a:gs pos="0">
                    <a:schemeClr val="bg1"/>
                  </a:gs>
                  <a:gs pos="100000">
                    <a:schemeClr val="bg1">
                      <a:alpha val="0"/>
                    </a:schemeClr>
                  </a:gs>
                </a:gsLst>
                <a:path path="rect">
                  <a:fillToRect l="100000" b="100000"/>
                </a:path>
                <a:tileRect t="-100000" r="-100000"/>
              </a:gradFill>
              <a:ln w="9525" cap="flat" cmpd="sng" algn="ctr">
                <a:solidFill>
                  <a:schemeClr val="bg1"/>
                </a:solidFill>
                <a:prstDash val="solid"/>
              </a:ln>
              <a:effectLst>
                <a:outerShdw blurRad="50800" dist="38100" dir="2700000" algn="tl" rotWithShape="0">
                  <a:prstClr val="black">
                    <a:alpha val="95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3D620BC-C9E0-6E8F-E751-2BE9F6B2202F}"/>
                  </a:ext>
                </a:extLst>
              </p:cNvPr>
              <p:cNvSpPr txBox="1"/>
              <p:nvPr/>
            </p:nvSpPr>
            <p:spPr>
              <a:xfrm>
                <a:off x="7746289" y="4858433"/>
                <a:ext cx="4666487" cy="1370265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Direct Competitor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Special Needs Care Network</a:t>
                </a:r>
                <a:br>
                  <a:rPr lang="en-US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US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 specialized platform that helps families discover, compare, and connect with special-needs service providers.</a:t>
                </a:r>
              </a:p>
            </p:txBody>
          </p:sp>
        </p:grp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3956A9BB-3288-F410-00F2-3FD452BBC5E1}"/>
                </a:ext>
              </a:extLst>
            </p:cNvPr>
            <p:cNvSpPr/>
            <p:nvPr/>
          </p:nvSpPr>
          <p:spPr>
            <a:xfrm flipH="1">
              <a:off x="5194024" y="3580108"/>
              <a:ext cx="91113" cy="1553432"/>
            </a:xfrm>
            <a:prstGeom prst="roundRect">
              <a:avLst>
                <a:gd name="adj" fmla="val 23950"/>
              </a:avLst>
            </a:prstGeom>
            <a:solidFill>
              <a:srgbClr val="E5FF4B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15B1DEDD-80A7-1209-CA9D-1B223AC06F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9282" y="4142267"/>
            <a:ext cx="2923709" cy="2231786"/>
          </a:xfrm>
          <a:prstGeom prst="rect">
            <a:avLst/>
          </a:prstGeom>
          <a:effectLst>
            <a:softEdge rad="165100"/>
          </a:effectLst>
        </p:spPr>
      </p:pic>
    </p:spTree>
    <p:extLst>
      <p:ext uri="{BB962C8B-B14F-4D97-AF65-F5344CB8AC3E}">
        <p14:creationId xmlns:p14="http://schemas.microsoft.com/office/powerpoint/2010/main" val="184137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0000"/>
                    </a14:imgEffect>
                    <a14:imgEffect>
                      <a14:colorTemperature colorTemp="7035"/>
                    </a14:imgEffect>
                    <a14:imgEffect>
                      <a14:saturation sat="66000"/>
                    </a14:imgEffect>
                    <a14:imgEffect>
                      <a14:brightnessContrast bright="-9000"/>
                    </a14:imgEffect>
                  </a14:imgLayer>
                </a14:imgProps>
              </a:ext>
            </a:extLst>
          </a:blip>
          <a:srcRect/>
          <a:stretch>
            <a:fillRect t="-13000" r="-6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 rot="10800000">
            <a:off x="-2869375" y="-154380"/>
            <a:ext cx="7848000" cy="7848000"/>
            <a:chOff x="-2857500" y="-152400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2857500" y="-152400"/>
              <a:ext cx="7848000" cy="7848000"/>
              <a:chOff x="-2413416" y="-232347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413416" y="-232347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61531"/>
                <a:ext cx="1753849" cy="64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 rot="10800000">
                <a:off x="300115" y="5784273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66464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274588" y="366903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761291" y="3417658"/>
              <a:ext cx="18980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586A659-1C9B-25C9-0AEA-3EA734CDFE13}"/>
              </a:ext>
            </a:extLst>
          </p:cNvPr>
          <p:cNvSpPr/>
          <p:nvPr/>
        </p:nvSpPr>
        <p:spPr>
          <a:xfrm>
            <a:off x="-323497" y="0"/>
            <a:ext cx="12540343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3EEB2A-1D43-93D2-6A5B-1AFFAEAEE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275" y="92068"/>
            <a:ext cx="1316850" cy="1237595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C6752A9-200F-E936-49AD-8FB61B2CC981}"/>
              </a:ext>
            </a:extLst>
          </p:cNvPr>
          <p:cNvGrpSpPr/>
          <p:nvPr/>
        </p:nvGrpSpPr>
        <p:grpSpPr>
          <a:xfrm>
            <a:off x="5234069" y="1402062"/>
            <a:ext cx="5930599" cy="4935148"/>
            <a:chOff x="5115316" y="1180147"/>
            <a:chExt cx="5930599" cy="4541248"/>
          </a:xfrm>
        </p:grpSpPr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03CE26A7-696E-F375-8A4D-19420F15B952}"/>
                </a:ext>
              </a:extLst>
            </p:cNvPr>
            <p:cNvSpPr/>
            <p:nvPr/>
          </p:nvSpPr>
          <p:spPr>
            <a:xfrm>
              <a:off x="8255338" y="1180147"/>
              <a:ext cx="1316852" cy="563342"/>
            </a:xfrm>
            <a:prstGeom prst="roundRect">
              <a:avLst>
                <a:gd name="adj" fmla="val 39388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b="100000"/>
              </a:path>
              <a:tileRect t="-100000" r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Rounded Rectangle 4">
              <a:extLst>
                <a:ext uri="{FF2B5EF4-FFF2-40B4-BE49-F238E27FC236}">
                  <a16:creationId xmlns:a16="http://schemas.microsoft.com/office/drawing/2014/main" id="{EB1546F8-9EF9-A8C5-F9B8-EAD9B877ED1F}"/>
                </a:ext>
              </a:extLst>
            </p:cNvPr>
            <p:cNvSpPr/>
            <p:nvPr/>
          </p:nvSpPr>
          <p:spPr>
            <a:xfrm>
              <a:off x="5115316" y="1182284"/>
              <a:ext cx="2818665" cy="557245"/>
            </a:xfrm>
            <a:prstGeom prst="roundRect">
              <a:avLst>
                <a:gd name="adj" fmla="val 49486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b="100000"/>
              </a:path>
              <a:tileRect t="-100000" r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D56B164A-B0DD-7216-8598-93328D3E13CB}"/>
                </a:ext>
              </a:extLst>
            </p:cNvPr>
            <p:cNvSpPr/>
            <p:nvPr/>
          </p:nvSpPr>
          <p:spPr>
            <a:xfrm>
              <a:off x="5118161" y="1817843"/>
              <a:ext cx="2818665" cy="3903552"/>
            </a:xfrm>
            <a:prstGeom prst="roundRect">
              <a:avLst>
                <a:gd name="adj" fmla="val 10678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b="100000"/>
              </a:path>
              <a:tileRect t="-100000" r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73A00CC-CBFC-AA3B-BD19-0D1F9C9A79F2}"/>
                </a:ext>
              </a:extLst>
            </p:cNvPr>
            <p:cNvGrpSpPr/>
            <p:nvPr/>
          </p:nvGrpSpPr>
          <p:grpSpPr>
            <a:xfrm>
              <a:off x="5157497" y="1258868"/>
              <a:ext cx="2749471" cy="4176977"/>
              <a:chOff x="2601499" y="1424514"/>
              <a:chExt cx="2188114" cy="477548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01E9118-8FDB-F42A-E234-74468B3B4389}"/>
                  </a:ext>
                </a:extLst>
              </p:cNvPr>
              <p:cNvSpPr txBox="1"/>
              <p:nvPr/>
            </p:nvSpPr>
            <p:spPr>
              <a:xfrm>
                <a:off x="3138689" y="1424514"/>
                <a:ext cx="1111202" cy="40011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sz="20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Feature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58C1F79-D281-AB84-2887-5E9681364E81}"/>
                  </a:ext>
                </a:extLst>
              </p:cNvPr>
              <p:cNvSpPr txBox="1"/>
              <p:nvPr/>
            </p:nvSpPr>
            <p:spPr>
              <a:xfrm>
                <a:off x="2656698" y="3586386"/>
                <a:ext cx="2065644" cy="422252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Appointment Booking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619269-7FF1-6281-483D-84CAACF45DA3}"/>
                  </a:ext>
                </a:extLst>
              </p:cNvPr>
              <p:cNvSpPr txBox="1"/>
              <p:nvPr/>
            </p:nvSpPr>
            <p:spPr>
              <a:xfrm>
                <a:off x="2601499" y="2382641"/>
                <a:ext cx="2188114" cy="422252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Location-Based Search</a:t>
                </a:r>
                <a:endParaRPr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CEB3393-8926-8CFE-6EE8-C5B0059F8AB5}"/>
                  </a:ext>
                </a:extLst>
              </p:cNvPr>
              <p:cNvSpPr txBox="1"/>
              <p:nvPr/>
            </p:nvSpPr>
            <p:spPr>
              <a:xfrm>
                <a:off x="2738344" y="4041246"/>
                <a:ext cx="1902353" cy="401227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Center Management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21BF58-7C11-6757-5A4C-926A9F797CF9}"/>
                  </a:ext>
                </a:extLst>
              </p:cNvPr>
              <p:cNvSpPr txBox="1"/>
              <p:nvPr/>
            </p:nvSpPr>
            <p:spPr>
              <a:xfrm>
                <a:off x="2884907" y="4477626"/>
                <a:ext cx="1565563" cy="401227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Home Exercises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1E1EC4-3125-4A7E-8A8A-BC2E87C7D361}"/>
                  </a:ext>
                </a:extLst>
              </p:cNvPr>
              <p:cNvSpPr txBox="1"/>
              <p:nvPr/>
            </p:nvSpPr>
            <p:spPr>
              <a:xfrm>
                <a:off x="2803261" y="4914006"/>
                <a:ext cx="1728855" cy="401227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Interactive Games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DD50629-3E21-A3F2-B099-470C6E3FB4EF}"/>
                  </a:ext>
                </a:extLst>
              </p:cNvPr>
              <p:cNvSpPr txBox="1"/>
              <p:nvPr/>
            </p:nvSpPr>
            <p:spPr>
              <a:xfrm>
                <a:off x="2849186" y="5356387"/>
                <a:ext cx="1637003" cy="401227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Parent Follow-up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9A5E24E-6EBD-B522-784C-E457969A9AC6}"/>
                  </a:ext>
                </a:extLst>
              </p:cNvPr>
              <p:cNvSpPr txBox="1"/>
              <p:nvPr/>
            </p:nvSpPr>
            <p:spPr>
              <a:xfrm>
                <a:off x="2823671" y="5798768"/>
                <a:ext cx="1688032" cy="401227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ctr"/>
                <a:r>
                  <a:rPr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Progress Reports</a:t>
                </a:r>
              </a:p>
            </p:txBody>
          </p:sp>
        </p:grpSp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C7A43DFB-3C2F-E148-2D30-B620269932F2}"/>
                </a:ext>
              </a:extLst>
            </p:cNvPr>
            <p:cNvSpPr/>
            <p:nvPr/>
          </p:nvSpPr>
          <p:spPr>
            <a:xfrm>
              <a:off x="8255338" y="1817843"/>
              <a:ext cx="1316851" cy="3903552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b="100000"/>
              </a:path>
              <a:tileRect t="-100000" r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Rounded Rectangle 4">
              <a:extLst>
                <a:ext uri="{FF2B5EF4-FFF2-40B4-BE49-F238E27FC236}">
                  <a16:creationId xmlns:a16="http://schemas.microsoft.com/office/drawing/2014/main" id="{925F5B82-CE52-58F1-7021-8F9BE50C1E70}"/>
                </a:ext>
              </a:extLst>
            </p:cNvPr>
            <p:cNvSpPr/>
            <p:nvPr/>
          </p:nvSpPr>
          <p:spPr>
            <a:xfrm>
              <a:off x="9729064" y="1817843"/>
              <a:ext cx="1316851" cy="3903552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b="100000"/>
              </a:path>
              <a:tileRect t="-100000" r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F46A0A6-F231-7F54-9EFB-880119EF8F68}"/>
                </a:ext>
              </a:extLst>
            </p:cNvPr>
            <p:cNvSpPr/>
            <p:nvPr/>
          </p:nvSpPr>
          <p:spPr>
            <a:xfrm>
              <a:off x="9729065" y="1182284"/>
              <a:ext cx="1316850" cy="563342"/>
            </a:xfrm>
            <a:prstGeom prst="rect">
              <a:avLst/>
            </a:prstGeom>
            <a:gradFill flip="none" rotWithShape="1">
              <a:gsLst>
                <a:gs pos="0">
                  <a:schemeClr val="bg2"/>
                </a:gs>
                <a:gs pos="44000">
                  <a:srgbClr val="33CCCC"/>
                </a:gs>
                <a:gs pos="100000">
                  <a:srgbClr val="33CCCC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TOASOL</a:t>
              </a:r>
              <a:endParaRPr kumimoji="0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852DECC-82B4-475F-E3B5-FE7118FC1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14922" y="1208432"/>
              <a:ext cx="1257267" cy="532221"/>
            </a:xfrm>
            <a:prstGeom prst="rect">
              <a:avLst/>
            </a:prstGeom>
            <a:effectLst>
              <a:outerShdw blurRad="50800" dist="38100" dir="2700000" algn="tl" rotWithShape="0">
                <a:prstClr val="black"/>
              </a:outerShdw>
            </a:effec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E42A361-2223-6FEE-F112-CCF34BC14E74}"/>
                </a:ext>
              </a:extLst>
            </p:cNvPr>
            <p:cNvSpPr txBox="1"/>
            <p:nvPr/>
          </p:nvSpPr>
          <p:spPr>
            <a:xfrm>
              <a:off x="5297137" y="2474944"/>
              <a:ext cx="2497866" cy="64633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Provider Information       </a:t>
              </a:r>
            </a:p>
            <a:p>
              <a:r>
                <a:rPr lang="en-US" b="1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&amp; Reviews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CC7930-8EE0-F1A5-54F5-116CE7F84CFE}"/>
                </a:ext>
              </a:extLst>
            </p:cNvPr>
            <p:cNvSpPr txBox="1"/>
            <p:nvPr/>
          </p:nvSpPr>
          <p:spPr>
            <a:xfrm>
              <a:off x="8648486" y="2016433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00C7ED4-687F-F023-700A-8ADA031D7425}"/>
                </a:ext>
              </a:extLst>
            </p:cNvPr>
            <p:cNvSpPr txBox="1"/>
            <p:nvPr/>
          </p:nvSpPr>
          <p:spPr>
            <a:xfrm>
              <a:off x="8629318" y="2558979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1498121-11D8-41E6-42ED-395B4DC4A6BD}"/>
                </a:ext>
              </a:extLst>
            </p:cNvPr>
            <p:cNvSpPr txBox="1"/>
            <p:nvPr/>
          </p:nvSpPr>
          <p:spPr>
            <a:xfrm>
              <a:off x="8389504" y="3149796"/>
              <a:ext cx="1048516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52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i="0" u="none" strike="noStrike" kern="1200" cap="none" spc="0" normalizeH="0" baseline="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rPr>
                <a:t>Limited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74FF748-FBB2-E3FB-DB58-43602EB6F6A4}"/>
                </a:ext>
              </a:extLst>
            </p:cNvPr>
            <p:cNvSpPr txBox="1"/>
            <p:nvPr/>
          </p:nvSpPr>
          <p:spPr>
            <a:xfrm>
              <a:off x="8638901" y="3538454"/>
              <a:ext cx="549721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59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5F697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—</a:t>
              </a:r>
              <a:endParaRPr lang="en-US" b="1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C36CB8F-7000-7EE0-16AF-073E4A3BFA3A}"/>
                </a:ext>
              </a:extLst>
            </p:cNvPr>
            <p:cNvSpPr txBox="1"/>
            <p:nvPr/>
          </p:nvSpPr>
          <p:spPr>
            <a:xfrm>
              <a:off x="8648486" y="3941695"/>
              <a:ext cx="549721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59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5F697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—</a:t>
              </a:r>
              <a:endParaRPr lang="en-US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929960B-1297-2D07-4767-3F71EECA50B5}"/>
                </a:ext>
              </a:extLst>
            </p:cNvPr>
            <p:cNvSpPr txBox="1"/>
            <p:nvPr/>
          </p:nvSpPr>
          <p:spPr>
            <a:xfrm>
              <a:off x="10138813" y="2513141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10FF433-E20E-22EF-DDFD-25F0F63CBADC}"/>
                </a:ext>
              </a:extLst>
            </p:cNvPr>
            <p:cNvSpPr txBox="1"/>
            <p:nvPr/>
          </p:nvSpPr>
          <p:spPr>
            <a:xfrm>
              <a:off x="10131860" y="3030231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741699B-6260-25A5-9F9E-5BC2CCD03D98}"/>
                </a:ext>
              </a:extLst>
            </p:cNvPr>
            <p:cNvSpPr txBox="1"/>
            <p:nvPr/>
          </p:nvSpPr>
          <p:spPr>
            <a:xfrm>
              <a:off x="10131861" y="3411076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FBD2FE1-F8BA-4EB2-3F5F-5E18D1399F68}"/>
                </a:ext>
              </a:extLst>
            </p:cNvPr>
            <p:cNvSpPr txBox="1"/>
            <p:nvPr/>
          </p:nvSpPr>
          <p:spPr>
            <a:xfrm>
              <a:off x="10149244" y="3787807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5EFDB1-C764-8A7D-3DDB-5117F5ECA246}"/>
                </a:ext>
              </a:extLst>
            </p:cNvPr>
            <p:cNvSpPr txBox="1"/>
            <p:nvPr/>
          </p:nvSpPr>
          <p:spPr>
            <a:xfrm>
              <a:off x="10152721" y="4220738"/>
              <a:ext cx="561936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BE2F414-96C1-E332-EA2A-1DEE4A54BCF5}"/>
                </a:ext>
              </a:extLst>
            </p:cNvPr>
            <p:cNvSpPr txBox="1"/>
            <p:nvPr/>
          </p:nvSpPr>
          <p:spPr>
            <a:xfrm>
              <a:off x="10138815" y="4601583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8618270-04D3-BF52-D050-AE660597D30C}"/>
                </a:ext>
              </a:extLst>
            </p:cNvPr>
            <p:cNvSpPr txBox="1"/>
            <p:nvPr/>
          </p:nvSpPr>
          <p:spPr>
            <a:xfrm>
              <a:off x="10131862" y="4995796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BF054A-0937-9F14-622B-A76E7AFEFE25}"/>
                </a:ext>
              </a:extLst>
            </p:cNvPr>
            <p:cNvSpPr txBox="1"/>
            <p:nvPr/>
          </p:nvSpPr>
          <p:spPr>
            <a:xfrm>
              <a:off x="8658069" y="4308697"/>
              <a:ext cx="549721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59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5F697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—</a:t>
              </a:r>
              <a:endParaRPr lang="en-US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E5CFA5-854C-DAC6-09C4-B84383F99EC9}"/>
                </a:ext>
              </a:extLst>
            </p:cNvPr>
            <p:cNvSpPr txBox="1"/>
            <p:nvPr/>
          </p:nvSpPr>
          <p:spPr>
            <a:xfrm>
              <a:off x="8658068" y="4688771"/>
              <a:ext cx="549721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59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5F697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—</a:t>
              </a:r>
              <a:endParaRPr lang="en-US" b="1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8EBBC9E-74B6-D96F-E615-B85A92E7C64A}"/>
                </a:ext>
              </a:extLst>
            </p:cNvPr>
            <p:cNvSpPr txBox="1"/>
            <p:nvPr/>
          </p:nvSpPr>
          <p:spPr>
            <a:xfrm>
              <a:off x="8658068" y="5055773"/>
              <a:ext cx="549721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59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5F6978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—</a:t>
              </a:r>
              <a:endParaRPr lang="en-US" b="1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D798E91-E1BD-0283-004C-518BDD46AA47}"/>
                </a:ext>
              </a:extLst>
            </p:cNvPr>
            <p:cNvSpPr txBox="1"/>
            <p:nvPr/>
          </p:nvSpPr>
          <p:spPr>
            <a:xfrm>
              <a:off x="10138814" y="2017175"/>
              <a:ext cx="568889" cy="5232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/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BEAE"/>
                  </a:solidFill>
                  <a:effectLst/>
                  <a:uLnTx/>
                  <a:uFillTx/>
                  <a:latin typeface="Aptos"/>
                  <a:ea typeface="+mn-ea"/>
                  <a:cs typeface="+mn-cs"/>
                </a:rPr>
                <a:t>✓</a:t>
              </a:r>
              <a:endParaRPr lang="en-US" sz="2800" dirty="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0DCC84D0-D8C5-8935-7B0D-EA6AE1CDC40A}"/>
              </a:ext>
            </a:extLst>
          </p:cNvPr>
          <p:cNvSpPr txBox="1"/>
          <p:nvPr/>
        </p:nvSpPr>
        <p:spPr>
          <a:xfrm>
            <a:off x="4692342" y="562370"/>
            <a:ext cx="5155475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5FF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Who Are Our Competitors?</a:t>
            </a:r>
          </a:p>
        </p:txBody>
      </p:sp>
    </p:spTree>
    <p:extLst>
      <p:ext uri="{BB962C8B-B14F-4D97-AF65-F5344CB8AC3E}">
        <p14:creationId xmlns:p14="http://schemas.microsoft.com/office/powerpoint/2010/main" val="3929711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 rot="16200000">
            <a:off x="-2869375" y="-154380"/>
            <a:ext cx="7848000" cy="7848000"/>
            <a:chOff x="-2857500" y="-152400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2857500" y="-152400"/>
              <a:ext cx="7848000" cy="7848000"/>
              <a:chOff x="-2413416" y="-232347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413416" y="-232347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61531"/>
                <a:ext cx="1753849" cy="64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 rot="10800000">
                <a:off x="300115" y="5784273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66464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274588" y="366903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761291" y="3417658"/>
              <a:ext cx="18980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310B146-1A0B-1B87-CF91-12EA85575B93}"/>
              </a:ext>
            </a:extLst>
          </p:cNvPr>
          <p:cNvSpPr/>
          <p:nvPr/>
        </p:nvSpPr>
        <p:spPr>
          <a:xfrm>
            <a:off x="0" y="0"/>
            <a:ext cx="12540343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CA2D0E-2E0F-AC26-E4F5-C0E9BB14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275" y="92068"/>
            <a:ext cx="1316850" cy="12375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DF41D7-9975-3480-ECC0-482C13E03785}"/>
              </a:ext>
            </a:extLst>
          </p:cNvPr>
          <p:cNvSpPr txBox="1"/>
          <p:nvPr/>
        </p:nvSpPr>
        <p:spPr>
          <a:xfrm>
            <a:off x="4978626" y="596900"/>
            <a:ext cx="507977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664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Invest in TOASOL?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5DC617-E660-4F4F-F3BD-72C80C147E51}"/>
              </a:ext>
            </a:extLst>
          </p:cNvPr>
          <p:cNvGrpSpPr/>
          <p:nvPr/>
        </p:nvGrpSpPr>
        <p:grpSpPr>
          <a:xfrm>
            <a:off x="5230232" y="1270702"/>
            <a:ext cx="5282105" cy="3839457"/>
            <a:chOff x="5230232" y="1270702"/>
            <a:chExt cx="5282105" cy="3839457"/>
          </a:xfrm>
        </p:grpSpPr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7DC1D06A-7C6A-F1D5-3A18-9FBC6CB900DB}"/>
                </a:ext>
              </a:extLst>
            </p:cNvPr>
            <p:cNvSpPr/>
            <p:nvPr/>
          </p:nvSpPr>
          <p:spPr>
            <a:xfrm>
              <a:off x="5308115" y="2607307"/>
              <a:ext cx="5079774" cy="1100399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FBD09DB1-3F2A-AC59-0E7B-D430E9A81778}"/>
                </a:ext>
              </a:extLst>
            </p:cNvPr>
            <p:cNvSpPr/>
            <p:nvPr/>
          </p:nvSpPr>
          <p:spPr>
            <a:xfrm rot="10800000">
              <a:off x="5308115" y="1274501"/>
              <a:ext cx="5079774" cy="1100399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806E2E-E7EF-5A57-7268-540490ADF461}"/>
                </a:ext>
              </a:extLst>
            </p:cNvPr>
            <p:cNvSpPr txBox="1"/>
            <p:nvPr/>
          </p:nvSpPr>
          <p:spPr>
            <a:xfrm>
              <a:off x="5453027" y="2654838"/>
              <a:ext cx="4648200" cy="86177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Real Problem</a:t>
              </a:r>
            </a:p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 are solving a real problem faced by children, parents, specialists, and therapy centers.</a:t>
              </a:r>
            </a:p>
          </p:txBody>
        </p:sp>
        <p:sp>
          <p:nvSpPr>
            <p:cNvPr id="18" name="Rectangle 1">
              <a:extLst>
                <a:ext uri="{FF2B5EF4-FFF2-40B4-BE49-F238E27FC236}">
                  <a16:creationId xmlns:a16="http://schemas.microsoft.com/office/drawing/2014/main" id="{6E3AC8B9-CB6F-D5C8-DA2C-BFC611F1F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2563" y="1270702"/>
              <a:ext cx="5079774" cy="110799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b="1" i="0" u="none" strike="noStrike" cap="none" normalizeH="0" baseline="0" dirty="0">
                  <a:ln>
                    <a:noFill/>
                  </a:ln>
                  <a:solidFill>
                    <a:schemeClr val="accent1">
                      <a:lumMod val="50000"/>
                    </a:schemeClr>
                  </a:solidFill>
                  <a:effectLst/>
                  <a:latin typeface="Arial" panose="020B0604020202020204" pitchFamily="34" charset="0"/>
                </a:rPr>
                <a:t>First-Mover Advantage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panose="020B0604020202020204" pitchFamily="34" charset="0"/>
                </a:rPr>
                <a:t>An opportunity to lead the Arab market with an integrated digital platform dedicated to children's speech, skill development, and learning support.</a:t>
              </a:r>
            </a:p>
          </p:txBody>
        </p:sp>
        <p:sp>
          <p:nvSpPr>
            <p:cNvPr id="19" name="Rounded Rectangle 4">
              <a:extLst>
                <a:ext uri="{FF2B5EF4-FFF2-40B4-BE49-F238E27FC236}">
                  <a16:creationId xmlns:a16="http://schemas.microsoft.com/office/drawing/2014/main" id="{1188DD14-5299-40F2-8698-D09E125FD9AF}"/>
                </a:ext>
              </a:extLst>
            </p:cNvPr>
            <p:cNvSpPr/>
            <p:nvPr/>
          </p:nvSpPr>
          <p:spPr>
            <a:xfrm>
              <a:off x="5308115" y="3991900"/>
              <a:ext cx="5079774" cy="1100399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E5FACD-E97D-60E3-F5F2-5A5720CAD87E}"/>
                </a:ext>
              </a:extLst>
            </p:cNvPr>
            <p:cNvSpPr txBox="1"/>
            <p:nvPr/>
          </p:nvSpPr>
          <p:spPr>
            <a:xfrm>
              <a:off x="5432563" y="4002163"/>
              <a:ext cx="4605373" cy="1107996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Clear Target Market</a:t>
              </a:r>
            </a:p>
            <a:p>
              <a:r>
                <a:rPr lang="en-US" sz="1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The platform focuses on a specific and underserved segment rather than being a general healthcare application.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4072418-6C69-C6C5-0ADC-A01813BD7D37}"/>
                </a:ext>
              </a:extLst>
            </p:cNvPr>
            <p:cNvSpPr/>
            <p:nvPr/>
          </p:nvSpPr>
          <p:spPr>
            <a:xfrm flipH="1">
              <a:off x="5230232" y="1270702"/>
              <a:ext cx="108000" cy="1100399"/>
            </a:xfrm>
            <a:prstGeom prst="roundRect">
              <a:avLst>
                <a:gd name="adj" fmla="val 29836"/>
              </a:avLst>
            </a:prstGeom>
            <a:solidFill>
              <a:srgbClr val="F66464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67908DD-642F-E4FE-43E7-6D4282E614F4}"/>
                </a:ext>
              </a:extLst>
            </p:cNvPr>
            <p:cNvSpPr/>
            <p:nvPr/>
          </p:nvSpPr>
          <p:spPr>
            <a:xfrm flipH="1">
              <a:off x="5230232" y="2606028"/>
              <a:ext cx="108000" cy="1100399"/>
            </a:xfrm>
            <a:prstGeom prst="roundRect">
              <a:avLst>
                <a:gd name="adj" fmla="val 29836"/>
              </a:avLst>
            </a:prstGeom>
            <a:solidFill>
              <a:srgbClr val="F66464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66D11192-D372-3ACB-6D48-4406751BDFE1}"/>
                </a:ext>
              </a:extLst>
            </p:cNvPr>
            <p:cNvSpPr/>
            <p:nvPr/>
          </p:nvSpPr>
          <p:spPr>
            <a:xfrm flipH="1">
              <a:off x="5230232" y="3986513"/>
              <a:ext cx="108000" cy="1100399"/>
            </a:xfrm>
            <a:prstGeom prst="roundRect">
              <a:avLst>
                <a:gd name="adj" fmla="val 29836"/>
              </a:avLst>
            </a:prstGeom>
            <a:solidFill>
              <a:srgbClr val="F66464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C23BE1D-A811-D4F8-8A61-7676C34096A3}"/>
              </a:ext>
            </a:extLst>
          </p:cNvPr>
          <p:cNvGrpSpPr/>
          <p:nvPr/>
        </p:nvGrpSpPr>
        <p:grpSpPr>
          <a:xfrm>
            <a:off x="5230232" y="5326688"/>
            <a:ext cx="5157657" cy="1100399"/>
            <a:chOff x="5230232" y="5326688"/>
            <a:chExt cx="5157657" cy="1100399"/>
          </a:xfrm>
        </p:grpSpPr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1BB276CC-EECD-9E45-F95C-B4B27DCCA3A4}"/>
                </a:ext>
              </a:extLst>
            </p:cNvPr>
            <p:cNvSpPr/>
            <p:nvPr/>
          </p:nvSpPr>
          <p:spPr>
            <a:xfrm>
              <a:off x="5308115" y="5326688"/>
              <a:ext cx="5079774" cy="1100399"/>
            </a:xfrm>
            <a:prstGeom prst="roundRect">
              <a:avLst>
                <a:gd name="adj" fmla="val 20230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9A0211-8A04-8DF5-6FF2-3E98F4C19190}"/>
                </a:ext>
              </a:extLst>
            </p:cNvPr>
            <p:cNvSpPr txBox="1"/>
            <p:nvPr/>
          </p:nvSpPr>
          <p:spPr>
            <a:xfrm>
              <a:off x="5432563" y="5398834"/>
              <a:ext cx="4088352" cy="369332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Multiple Revenue Streams</a:t>
              </a:r>
              <a:endParaRPr lang="en-US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8FDFB86-8AB0-9B41-79E4-4205E5013276}"/>
                </a:ext>
              </a:extLst>
            </p:cNvPr>
            <p:cNvSpPr/>
            <p:nvPr/>
          </p:nvSpPr>
          <p:spPr>
            <a:xfrm flipH="1">
              <a:off x="5230232" y="5326688"/>
              <a:ext cx="108000" cy="1100399"/>
            </a:xfrm>
            <a:prstGeom prst="roundRect">
              <a:avLst>
                <a:gd name="adj" fmla="val 29836"/>
              </a:avLst>
            </a:prstGeom>
            <a:solidFill>
              <a:srgbClr val="F66464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3550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 rot="16200000">
            <a:off x="-2869375" y="-154380"/>
            <a:ext cx="7848000" cy="7848000"/>
            <a:chOff x="-2857500" y="-152400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2857500" y="-152400"/>
              <a:ext cx="7848000" cy="7848000"/>
              <a:chOff x="-2413416" y="-232347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413416" y="-232347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61531"/>
                <a:ext cx="1753849" cy="64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 rot="10800000">
                <a:off x="300115" y="5784273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66464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274588" y="366903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761291" y="3417658"/>
              <a:ext cx="18980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310B146-1A0B-1B87-CF91-12EA85575B93}"/>
              </a:ext>
            </a:extLst>
          </p:cNvPr>
          <p:cNvSpPr/>
          <p:nvPr/>
        </p:nvSpPr>
        <p:spPr>
          <a:xfrm>
            <a:off x="1303" y="0"/>
            <a:ext cx="12540343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CA2D0E-2E0F-AC26-E4F5-C0E9BB14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275" y="92068"/>
            <a:ext cx="1316850" cy="12375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DF41D7-9975-3480-ECC0-482C13E03785}"/>
              </a:ext>
            </a:extLst>
          </p:cNvPr>
          <p:cNvSpPr txBox="1"/>
          <p:nvPr/>
        </p:nvSpPr>
        <p:spPr>
          <a:xfrm>
            <a:off x="4978626" y="596900"/>
            <a:ext cx="5079774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664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Invest in TOASOL?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F104BF-9F85-A1ED-9B56-8D6519E34680}"/>
              </a:ext>
            </a:extLst>
          </p:cNvPr>
          <p:cNvGrpSpPr/>
          <p:nvPr/>
        </p:nvGrpSpPr>
        <p:grpSpPr>
          <a:xfrm>
            <a:off x="5215592" y="1274501"/>
            <a:ext cx="6333984" cy="4662065"/>
            <a:chOff x="5265090" y="5326688"/>
            <a:chExt cx="5122799" cy="1100399"/>
          </a:xfrm>
        </p:grpSpPr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1BB276CC-EECD-9E45-F95C-B4B27DCCA3A4}"/>
                </a:ext>
              </a:extLst>
            </p:cNvPr>
            <p:cNvSpPr/>
            <p:nvPr/>
          </p:nvSpPr>
          <p:spPr>
            <a:xfrm>
              <a:off x="5308115" y="5326688"/>
              <a:ext cx="5079774" cy="1100399"/>
            </a:xfrm>
            <a:prstGeom prst="roundRect">
              <a:avLst>
                <a:gd name="adj" fmla="val 7921"/>
              </a:avLst>
            </a:prstGeom>
            <a:gradFill flip="none" rotWithShape="1">
              <a:gsLst>
                <a:gs pos="0">
                  <a:schemeClr val="bg1"/>
                </a:gs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rect">
                <a:fillToRect r="100000" b="100000"/>
              </a:path>
              <a:tileRect l="-100000" t="-100000"/>
            </a:gradFill>
            <a:ln w="9525" cap="flat" cmpd="sng" algn="ctr">
              <a:solidFill>
                <a:schemeClr val="bg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9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89A0211-8A04-8DF5-6FF2-3E98F4C19190}"/>
                </a:ext>
              </a:extLst>
            </p:cNvPr>
            <p:cNvSpPr txBox="1"/>
            <p:nvPr/>
          </p:nvSpPr>
          <p:spPr>
            <a:xfrm>
              <a:off x="5432563" y="5398834"/>
              <a:ext cx="4088352" cy="43273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Multiple Revenue Streams</a:t>
              </a:r>
              <a:endParaRPr lang="en-US" sz="200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8FDFB86-8AB0-9B41-79E4-4205E5013276}"/>
                </a:ext>
              </a:extLst>
            </p:cNvPr>
            <p:cNvSpPr/>
            <p:nvPr/>
          </p:nvSpPr>
          <p:spPr>
            <a:xfrm flipH="1">
              <a:off x="5265090" y="5326688"/>
              <a:ext cx="73140" cy="1100399"/>
            </a:xfrm>
            <a:prstGeom prst="roundRect">
              <a:avLst>
                <a:gd name="adj" fmla="val 29836"/>
              </a:avLst>
            </a:prstGeom>
            <a:solidFill>
              <a:srgbClr val="F66464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E44DA85-B7BB-056B-D901-AEA44BE03797}"/>
              </a:ext>
            </a:extLst>
          </p:cNvPr>
          <p:cNvSpPr txBox="1"/>
          <p:nvPr/>
        </p:nvSpPr>
        <p:spPr>
          <a:xfrm>
            <a:off x="5453027" y="2021881"/>
            <a:ext cx="5413062" cy="2031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Center Subscription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Therapy centers pay a monthly or annual fee to use the platform.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Booking Commission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TOASOL receives a small commission(10%) from each booking made through the platform.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450C72-CD2F-0093-E78D-F59D203C7F86}"/>
              </a:ext>
            </a:extLst>
          </p:cNvPr>
          <p:cNvSpPr txBox="1"/>
          <p:nvPr/>
        </p:nvSpPr>
        <p:spPr>
          <a:xfrm>
            <a:off x="5453027" y="3741522"/>
            <a:ext cx="5210284" cy="203132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Parent Premium</a:t>
            </a: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Parents can subscribe to advanced features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 activities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progress reports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Premium educational content 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39888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11320B-9279-06D6-E164-6CB7AC10F7D5}"/>
              </a:ext>
            </a:extLst>
          </p:cNvPr>
          <p:cNvGrpSpPr/>
          <p:nvPr/>
        </p:nvGrpSpPr>
        <p:grpSpPr>
          <a:xfrm rot="16200000">
            <a:off x="-2869375" y="-154380"/>
            <a:ext cx="7848000" cy="7848000"/>
            <a:chOff x="-2857500" y="-152400"/>
            <a:chExt cx="7848000" cy="784800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86FF0B-93F8-CCBF-BE33-B7C869068DDD}"/>
                </a:ext>
              </a:extLst>
            </p:cNvPr>
            <p:cNvGrpSpPr/>
            <p:nvPr/>
          </p:nvGrpSpPr>
          <p:grpSpPr>
            <a:xfrm>
              <a:off x="-2857500" y="-152400"/>
              <a:ext cx="7848000" cy="7848000"/>
              <a:chOff x="-2413416" y="-232347"/>
              <a:chExt cx="7129858" cy="7251728"/>
            </a:xfrm>
          </p:grpSpPr>
          <p:sp useBgFill="1">
            <p:nvSpPr>
              <p:cNvPr id="5" name="Flowchart: Summing Junction 4">
                <a:extLst>
                  <a:ext uri="{FF2B5EF4-FFF2-40B4-BE49-F238E27FC236}">
                    <a16:creationId xmlns:a16="http://schemas.microsoft.com/office/drawing/2014/main" id="{C0E9682F-5ED3-A47B-C3BB-8E0838E3542C}"/>
                  </a:ext>
                </a:extLst>
              </p:cNvPr>
              <p:cNvSpPr/>
              <p:nvPr/>
            </p:nvSpPr>
            <p:spPr>
              <a:xfrm>
                <a:off x="-2413416" y="-232347"/>
                <a:ext cx="7129858" cy="7251728"/>
              </a:xfrm>
              <a:prstGeom prst="flowChartSummingJunction">
                <a:avLst/>
              </a:prstGeom>
              <a:ln w="25400">
                <a:solidFill>
                  <a:schemeClr val="bg1"/>
                </a:solidFill>
              </a:ln>
              <a:effectLst>
                <a:outerShdw blurRad="177800" dist="38100" sx="102000" sy="102000" algn="l" rotWithShape="0">
                  <a:prstClr val="black">
                    <a:alpha val="40000"/>
                  </a:prstClr>
                </a:outerShdw>
                <a:reflection blurRad="6350" stA="22000" endPos="38500" dist="50800" dir="5400000" sy="-100000" algn="bl" rotWithShape="0"/>
                <a:softEdge rad="0"/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 useBgFill="1">
            <p:nvSpPr>
              <p:cNvPr id="6" name="Oval 5">
                <a:extLst>
                  <a:ext uri="{FF2B5EF4-FFF2-40B4-BE49-F238E27FC236}">
                    <a16:creationId xmlns:a16="http://schemas.microsoft.com/office/drawing/2014/main" id="{87D04FB5-A3FD-70D6-0FD5-2FA395A6DEA3}"/>
                  </a:ext>
                </a:extLst>
              </p:cNvPr>
              <p:cNvSpPr/>
              <p:nvPr/>
            </p:nvSpPr>
            <p:spPr>
              <a:xfrm>
                <a:off x="-654483" y="1620256"/>
                <a:ext cx="3663046" cy="3725659"/>
              </a:xfrm>
              <a:prstGeom prst="ellipse">
                <a:avLst/>
              </a:prstGeom>
              <a:ln>
                <a:noFill/>
              </a:ln>
              <a:effectLst>
                <a:outerShdw blurRad="152400" dist="38100" sx="103000" sy="1030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944FB4-3FE5-B8BB-5A86-D0B3AF30EC12}"/>
                  </a:ext>
                </a:extLst>
              </p:cNvPr>
              <p:cNvSpPr txBox="1"/>
              <p:nvPr/>
            </p:nvSpPr>
            <p:spPr>
              <a:xfrm rot="5400000">
                <a:off x="2972814" y="3161531"/>
                <a:ext cx="1753849" cy="643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33CCCC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  <a:ea typeface="Gadugi" panose="020B0502040204020203" pitchFamily="34" charset="0"/>
                  </a:rPr>
                  <a:t>PART 1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E0227C-EF0E-6538-1B00-B47A43EB1910}"/>
                  </a:ext>
                </a:extLst>
              </p:cNvPr>
              <p:cNvSpPr txBox="1"/>
              <p:nvPr/>
            </p:nvSpPr>
            <p:spPr>
              <a:xfrm rot="10800000">
                <a:off x="300115" y="5784273"/>
                <a:ext cx="1753850" cy="6541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66464"/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4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239118-6943-43FE-6876-CDB62AED4437}"/>
                  </a:ext>
                </a:extLst>
              </p:cNvPr>
              <p:cNvSpPr txBox="1"/>
              <p:nvPr/>
            </p:nvSpPr>
            <p:spPr>
              <a:xfrm>
                <a:off x="274588" y="366903"/>
                <a:ext cx="1753850" cy="654103"/>
              </a:xfrm>
              <a:prstGeom prst="rect">
                <a:avLst/>
              </a:prstGeom>
              <a:noFill/>
              <a:effectLst>
                <a:outerShdw blurRad="50800" dist="38100" dir="2700000" sx="102000" sy="102000" algn="tl" rotWithShape="0">
                  <a:schemeClr val="tx1">
                    <a:alpha val="33000"/>
                  </a:scheme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ffectLst>
                      <a:outerShdw blurRad="50800" dist="38100" dir="2700000" sx="102000" sy="102000" algn="tl" rotWithShape="0">
                        <a:prstClr val="black"/>
                      </a:outerShdw>
                    </a:effectLst>
                  </a:rPr>
                  <a:t>PART 2</a:t>
                </a: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E5D0318-8C9F-7D7A-45B7-1BD993A7C624}"/>
                </a:ext>
              </a:extLst>
            </p:cNvPr>
            <p:cNvSpPr txBox="1"/>
            <p:nvPr/>
          </p:nvSpPr>
          <p:spPr>
            <a:xfrm rot="16200000">
              <a:off x="-2761291" y="3417658"/>
              <a:ext cx="189805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rgbClr val="E5FF4B"/>
                  </a:solidFill>
                  <a:effectLst>
                    <a:outerShdw blurRad="50800" dist="38100" dir="2700000" sx="102000" sy="102000" algn="tl" rotWithShape="0">
                      <a:prstClr val="black"/>
                    </a:outerShdw>
                  </a:effectLst>
                </a:rPr>
                <a:t>PART 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310B146-1A0B-1B87-CF91-12EA85575B93}"/>
              </a:ext>
            </a:extLst>
          </p:cNvPr>
          <p:cNvSpPr/>
          <p:nvPr/>
        </p:nvSpPr>
        <p:spPr>
          <a:xfrm>
            <a:off x="-26961" y="0"/>
            <a:ext cx="12540343" cy="6858000"/>
          </a:xfrm>
          <a:prstGeom prst="rect">
            <a:avLst/>
          </a:prstGeom>
          <a:gradFill flip="none" rotWithShape="1">
            <a:gsLst>
              <a:gs pos="35000">
                <a:schemeClr val="bg1">
                  <a:alpha val="0"/>
                </a:schemeClr>
              </a:gs>
              <a:gs pos="100000">
                <a:schemeClr val="tx2"/>
              </a:gs>
              <a:gs pos="100000">
                <a:schemeClr val="tx2">
                  <a:lumMod val="10000"/>
                  <a:lumOff val="90000"/>
                </a:schemeClr>
              </a:gs>
              <a:gs pos="100000">
                <a:schemeClr val="accent1"/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1" dirty="0">
              <a:solidFill>
                <a:schemeClr val="accent1">
                  <a:lumMod val="40000"/>
                  <a:lumOff val="60000"/>
                </a:schemeClr>
              </a:solidFill>
              <a:effectLst>
                <a:outerShdw blurRad="50800" dist="38100" dir="2700000" sx="102000" sy="102000" algn="tl" rotWithShape="0">
                  <a:prstClr val="black"/>
                </a:outerShdw>
              </a:effectLst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CA2D0E-2E0F-AC26-E4F5-C0E9BB148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275" y="92068"/>
            <a:ext cx="1316850" cy="12375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DF41D7-9975-3480-ECC0-482C13E03785}"/>
              </a:ext>
            </a:extLst>
          </p:cNvPr>
          <p:cNvSpPr txBox="1"/>
          <p:nvPr/>
        </p:nvSpPr>
        <p:spPr>
          <a:xfrm>
            <a:off x="4731169" y="595451"/>
            <a:ext cx="6482563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664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the Capital Cycle Work?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ADF4F32-9C1B-856B-5910-0284A85A514B}"/>
              </a:ext>
            </a:extLst>
          </p:cNvPr>
          <p:cNvGrpSpPr/>
          <p:nvPr/>
        </p:nvGrpSpPr>
        <p:grpSpPr>
          <a:xfrm>
            <a:off x="5088869" y="1343854"/>
            <a:ext cx="6995191" cy="724183"/>
            <a:chOff x="4631164" y="1329483"/>
            <a:chExt cx="6995191" cy="72418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C7A3617-3B29-940A-6A4E-420901F35323}"/>
                </a:ext>
              </a:extLst>
            </p:cNvPr>
            <p:cNvGrpSpPr/>
            <p:nvPr/>
          </p:nvGrpSpPr>
          <p:grpSpPr>
            <a:xfrm>
              <a:off x="4631164" y="1329664"/>
              <a:ext cx="2024658" cy="724002"/>
              <a:chOff x="5285145" y="1285127"/>
              <a:chExt cx="2541044" cy="76875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CF104BF-9F85-A1ED-9B56-8D6519E34680}"/>
                  </a:ext>
                </a:extLst>
              </p:cNvPr>
              <p:cNvGrpSpPr/>
              <p:nvPr/>
            </p:nvGrpSpPr>
            <p:grpSpPr>
              <a:xfrm>
                <a:off x="5285145" y="1285127"/>
                <a:ext cx="2503245" cy="768756"/>
                <a:chOff x="5230232" y="5326688"/>
                <a:chExt cx="5157657" cy="1100399"/>
              </a:xfrm>
            </p:grpSpPr>
            <p:sp>
              <p:nvSpPr>
                <p:cNvPr id="21" name="Rounded Rectangle 4">
                  <a:extLst>
                    <a:ext uri="{FF2B5EF4-FFF2-40B4-BE49-F238E27FC236}">
                      <a16:creationId xmlns:a16="http://schemas.microsoft.com/office/drawing/2014/main" id="{1BB276CC-EECD-9E45-F95C-B4B27DCCA3A4}"/>
                    </a:ext>
                  </a:extLst>
                </p:cNvPr>
                <p:cNvSpPr/>
                <p:nvPr/>
              </p:nvSpPr>
              <p:spPr>
                <a:xfrm>
                  <a:off x="5308115" y="5326688"/>
                  <a:ext cx="5079774" cy="1100399"/>
                </a:xfrm>
                <a:prstGeom prst="roundRect">
                  <a:avLst>
                    <a:gd name="adj" fmla="val 19993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path path="rect">
                    <a:fillToRect r="100000" b="100000"/>
                  </a:path>
                  <a:tileRect l="-100000" t="-100000"/>
                </a:gradFill>
                <a:ln w="9525" cap="flat" cmpd="sng" algn="ctr">
                  <a:solidFill>
                    <a:schemeClr val="bg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9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89A0211-8A04-8DF5-6FF2-3E98F4C19190}"/>
                    </a:ext>
                  </a:extLst>
                </p:cNvPr>
                <p:cNvSpPr txBox="1"/>
                <p:nvPr/>
              </p:nvSpPr>
              <p:spPr>
                <a:xfrm>
                  <a:off x="5432563" y="5398834"/>
                  <a:ext cx="4088352" cy="94439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sz="20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88FDFB86-8AB0-9B41-79E4-4205E5013276}"/>
                    </a:ext>
                  </a:extLst>
                </p:cNvPr>
                <p:cNvSpPr/>
                <p:nvPr/>
              </p:nvSpPr>
              <p:spPr>
                <a:xfrm flipH="1">
                  <a:off x="5230232" y="5326688"/>
                  <a:ext cx="108000" cy="1100399"/>
                </a:xfrm>
                <a:prstGeom prst="roundRect">
                  <a:avLst>
                    <a:gd name="adj" fmla="val 29836"/>
                  </a:avLst>
                </a:prstGeom>
                <a:solidFill>
                  <a:srgbClr val="F66464"/>
                </a:solidFill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E44DA85-B7BB-056B-D901-AEA44BE03797}"/>
                  </a:ext>
                </a:extLst>
              </p:cNvPr>
              <p:cNvSpPr txBox="1"/>
              <p:nvPr/>
            </p:nvSpPr>
            <p:spPr>
              <a:xfrm>
                <a:off x="5387706" y="1467890"/>
                <a:ext cx="2438483" cy="338554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Initial Investment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9EB3779-F984-4497-BD64-D0FC666F385C}"/>
                </a:ext>
              </a:extLst>
            </p:cNvPr>
            <p:cNvGrpSpPr/>
            <p:nvPr/>
          </p:nvGrpSpPr>
          <p:grpSpPr>
            <a:xfrm>
              <a:off x="6924196" y="1329663"/>
              <a:ext cx="2421366" cy="724002"/>
              <a:chOff x="5145140" y="2414905"/>
              <a:chExt cx="2727411" cy="768756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E89683C-D4E9-3EF2-D342-3B6E2E888890}"/>
                  </a:ext>
                </a:extLst>
              </p:cNvPr>
              <p:cNvGrpSpPr/>
              <p:nvPr/>
            </p:nvGrpSpPr>
            <p:grpSpPr>
              <a:xfrm>
                <a:off x="5145140" y="2414905"/>
                <a:ext cx="2435049" cy="768756"/>
                <a:chOff x="5285145" y="1285127"/>
                <a:chExt cx="2541044" cy="768756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076EFED-08B9-55E9-CB21-519C90851E92}"/>
                    </a:ext>
                  </a:extLst>
                </p:cNvPr>
                <p:cNvGrpSpPr/>
                <p:nvPr/>
              </p:nvGrpSpPr>
              <p:grpSpPr>
                <a:xfrm>
                  <a:off x="5285145" y="1285127"/>
                  <a:ext cx="2503245" cy="768756"/>
                  <a:chOff x="5230232" y="5326688"/>
                  <a:chExt cx="5157657" cy="1100399"/>
                </a:xfrm>
              </p:grpSpPr>
              <p:sp>
                <p:nvSpPr>
                  <p:cNvPr id="20" name="Rounded Rectangle 4">
                    <a:extLst>
                      <a:ext uri="{FF2B5EF4-FFF2-40B4-BE49-F238E27FC236}">
                        <a16:creationId xmlns:a16="http://schemas.microsoft.com/office/drawing/2014/main" id="{5E4C7B4C-B80A-A908-5F8F-6B2FDB248ABF}"/>
                      </a:ext>
                    </a:extLst>
                  </p:cNvPr>
                  <p:cNvSpPr/>
                  <p:nvPr/>
                </p:nvSpPr>
                <p:spPr>
                  <a:xfrm>
                    <a:off x="5308115" y="5326688"/>
                    <a:ext cx="5079774" cy="1100399"/>
                  </a:xfrm>
                  <a:prstGeom prst="roundRect">
                    <a:avLst>
                      <a:gd name="adj" fmla="val 19993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path path="rect">
                      <a:fillToRect r="100000" b="100000"/>
                    </a:path>
                    <a:tileRect l="-100000" t="-100000"/>
                  </a:gradFill>
                  <a:ln w="9525" cap="flat" cmpd="sng" algn="ctr">
                    <a:solidFill>
                      <a:schemeClr val="bg1"/>
                    </a:solidFill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95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C9242FF-AFB4-3FB0-9555-622B220854E0}"/>
                      </a:ext>
                    </a:extLst>
                  </p:cNvPr>
                  <p:cNvSpPr txBox="1"/>
                  <p:nvPr/>
                </p:nvSpPr>
                <p:spPr>
                  <a:xfrm>
                    <a:off x="5432563" y="5398834"/>
                    <a:ext cx="4088352" cy="94439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000" dirty="0">
                      <a:solidFill>
                        <a:schemeClr val="accent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4" name="Rectangle: Rounded Corners 23">
                    <a:extLst>
                      <a:ext uri="{FF2B5EF4-FFF2-40B4-BE49-F238E27FC236}">
                        <a16:creationId xmlns:a16="http://schemas.microsoft.com/office/drawing/2014/main" id="{4DC730B0-A803-343D-127C-FE531769CCBD}"/>
                      </a:ext>
                    </a:extLst>
                  </p:cNvPr>
                  <p:cNvSpPr/>
                  <p:nvPr/>
                </p:nvSpPr>
                <p:spPr>
                  <a:xfrm flipH="1">
                    <a:off x="5230232" y="5326688"/>
                    <a:ext cx="108000" cy="1100399"/>
                  </a:xfrm>
                  <a:prstGeom prst="roundRect">
                    <a:avLst>
                      <a:gd name="adj" fmla="val 29836"/>
                    </a:avLst>
                  </a:prstGeom>
                  <a:solidFill>
                    <a:srgbClr val="F66464"/>
                  </a:solidFill>
                  <a:ln>
                    <a:solidFill>
                      <a:schemeClr val="bg1"/>
                    </a:solidFill>
                  </a:ln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577507B-CA02-6542-1A33-A1FDC0EB5839}"/>
                    </a:ext>
                  </a:extLst>
                </p:cNvPr>
                <p:cNvSpPr txBox="1"/>
                <p:nvPr/>
              </p:nvSpPr>
              <p:spPr>
                <a:xfrm>
                  <a:off x="5387706" y="1467890"/>
                  <a:ext cx="2438483" cy="40011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endParaRPr 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55848BC-470C-74CB-B36A-3ABEE550DE5F}"/>
                  </a:ext>
                </a:extLst>
              </p:cNvPr>
              <p:cNvSpPr txBox="1"/>
              <p:nvPr/>
            </p:nvSpPr>
            <p:spPr>
              <a:xfrm>
                <a:off x="5157038" y="2488335"/>
                <a:ext cx="2715513" cy="620923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Develop the Platform &amp; Mobile App</a:t>
                </a:r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30BE0D-2A0D-53AB-82F5-A912C3F5D270}"/>
                </a:ext>
              </a:extLst>
            </p:cNvPr>
            <p:cNvSpPr txBox="1"/>
            <p:nvPr/>
          </p:nvSpPr>
          <p:spPr>
            <a:xfrm>
              <a:off x="6476985" y="1368499"/>
              <a:ext cx="603108" cy="64633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63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sz="3600" b="1" dirty="0">
                  <a:solidFill>
                    <a:srgbClr val="7E57C2"/>
                  </a:solidFill>
                  <a:latin typeface="Aptos"/>
                </a:rPr>
                <a:t>→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66CE23E-A6A9-26E5-2067-F2CDD26E7D3A}"/>
                </a:ext>
              </a:extLst>
            </p:cNvPr>
            <p:cNvGrpSpPr/>
            <p:nvPr/>
          </p:nvGrpSpPr>
          <p:grpSpPr>
            <a:xfrm>
              <a:off x="9347944" y="1329483"/>
              <a:ext cx="2278411" cy="724002"/>
              <a:chOff x="9080588" y="2331748"/>
              <a:chExt cx="2589776" cy="768756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54E5AAC-8DF6-C5DB-331A-0D44A4FAAE88}"/>
                  </a:ext>
                </a:extLst>
              </p:cNvPr>
              <p:cNvGrpSpPr/>
              <p:nvPr/>
            </p:nvGrpSpPr>
            <p:grpSpPr>
              <a:xfrm>
                <a:off x="9080588" y="2331748"/>
                <a:ext cx="2483099" cy="768756"/>
                <a:chOff x="5285145" y="1285127"/>
                <a:chExt cx="2591186" cy="768756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ABF3A51C-D021-A60C-9E0D-08723771147C}"/>
                    </a:ext>
                  </a:extLst>
                </p:cNvPr>
                <p:cNvGrpSpPr/>
                <p:nvPr/>
              </p:nvGrpSpPr>
              <p:grpSpPr>
                <a:xfrm>
                  <a:off x="5285145" y="1285127"/>
                  <a:ext cx="2591186" cy="768756"/>
                  <a:chOff x="5230232" y="5326688"/>
                  <a:chExt cx="5338850" cy="1100399"/>
                </a:xfrm>
              </p:grpSpPr>
              <p:sp>
                <p:nvSpPr>
                  <p:cNvPr id="41" name="Rounded Rectangle 4">
                    <a:extLst>
                      <a:ext uri="{FF2B5EF4-FFF2-40B4-BE49-F238E27FC236}">
                        <a16:creationId xmlns:a16="http://schemas.microsoft.com/office/drawing/2014/main" id="{F27EFA95-A176-95BC-1EC2-1982A809B80D}"/>
                      </a:ext>
                    </a:extLst>
                  </p:cNvPr>
                  <p:cNvSpPr/>
                  <p:nvPr/>
                </p:nvSpPr>
                <p:spPr>
                  <a:xfrm>
                    <a:off x="5308114" y="5326688"/>
                    <a:ext cx="5260968" cy="1100399"/>
                  </a:xfrm>
                  <a:prstGeom prst="roundRect">
                    <a:avLst>
                      <a:gd name="adj" fmla="val 19993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path path="rect">
                      <a:fillToRect r="100000" b="100000"/>
                    </a:path>
                    <a:tileRect l="-100000" t="-100000"/>
                  </a:gradFill>
                  <a:ln w="9525" cap="flat" cmpd="sng" algn="ctr">
                    <a:solidFill>
                      <a:schemeClr val="bg1"/>
                    </a:solidFill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95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0639E41A-5A47-1C0B-CC60-DD30CEFC8436}"/>
                      </a:ext>
                    </a:extLst>
                  </p:cNvPr>
                  <p:cNvSpPr txBox="1"/>
                  <p:nvPr/>
                </p:nvSpPr>
                <p:spPr>
                  <a:xfrm>
                    <a:off x="5432563" y="5398834"/>
                    <a:ext cx="4088352" cy="94439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000" dirty="0">
                      <a:solidFill>
                        <a:schemeClr val="accent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Rectangle: Rounded Corners 42">
                    <a:extLst>
                      <a:ext uri="{FF2B5EF4-FFF2-40B4-BE49-F238E27FC236}">
                        <a16:creationId xmlns:a16="http://schemas.microsoft.com/office/drawing/2014/main" id="{FFB03755-4D97-9F6E-0C60-16F9953F3F4B}"/>
                      </a:ext>
                    </a:extLst>
                  </p:cNvPr>
                  <p:cNvSpPr/>
                  <p:nvPr/>
                </p:nvSpPr>
                <p:spPr>
                  <a:xfrm flipH="1">
                    <a:off x="5230232" y="5326688"/>
                    <a:ext cx="108000" cy="1100399"/>
                  </a:xfrm>
                  <a:prstGeom prst="roundRect">
                    <a:avLst>
                      <a:gd name="adj" fmla="val 29836"/>
                    </a:avLst>
                  </a:prstGeom>
                  <a:solidFill>
                    <a:srgbClr val="F66464"/>
                  </a:solidFill>
                  <a:ln>
                    <a:solidFill>
                      <a:schemeClr val="bg1"/>
                    </a:solidFill>
                  </a:ln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17E174A-D6CE-4999-A412-47962CD5BD7D}"/>
                    </a:ext>
                  </a:extLst>
                </p:cNvPr>
                <p:cNvSpPr txBox="1"/>
                <p:nvPr/>
              </p:nvSpPr>
              <p:spPr>
                <a:xfrm>
                  <a:off x="5387706" y="1467890"/>
                  <a:ext cx="2438483" cy="40011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endParaRPr lang="en-US" sz="20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810FC4E-735B-C91E-00EF-69AB7A5AA3BD}"/>
                  </a:ext>
                </a:extLst>
              </p:cNvPr>
              <p:cNvSpPr txBox="1"/>
              <p:nvPr/>
            </p:nvSpPr>
            <p:spPr>
              <a:xfrm>
                <a:off x="9130820" y="2384418"/>
                <a:ext cx="2539544" cy="584775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r>
                  <a: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Marketing &amp; Acquire Therapy Centers</a:t>
                </a: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78C785C-1E1A-1899-89E4-F62DEEF58440}"/>
                </a:ext>
              </a:extLst>
            </p:cNvPr>
            <p:cNvSpPr txBox="1"/>
            <p:nvPr/>
          </p:nvSpPr>
          <p:spPr>
            <a:xfrm>
              <a:off x="8919829" y="1329483"/>
              <a:ext cx="603108" cy="64633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63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sz="3600" b="1" dirty="0">
                  <a:solidFill>
                    <a:srgbClr val="7E57C2"/>
                  </a:solidFill>
                  <a:latin typeface="Aptos"/>
                </a:rPr>
                <a:t>→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F907012-6E38-188D-94CB-2B240B764C81}"/>
              </a:ext>
            </a:extLst>
          </p:cNvPr>
          <p:cNvGrpSpPr/>
          <p:nvPr/>
        </p:nvGrpSpPr>
        <p:grpSpPr>
          <a:xfrm>
            <a:off x="9791994" y="2364216"/>
            <a:ext cx="2329680" cy="746730"/>
            <a:chOff x="4971436" y="2629924"/>
            <a:chExt cx="2131140" cy="72400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24A8D64-48AD-0977-B119-B75294602FA4}"/>
                </a:ext>
              </a:extLst>
            </p:cNvPr>
            <p:cNvGrpSpPr/>
            <p:nvPr/>
          </p:nvGrpSpPr>
          <p:grpSpPr>
            <a:xfrm>
              <a:off x="4983083" y="2629924"/>
              <a:ext cx="2024658" cy="724002"/>
              <a:chOff x="5285145" y="1285127"/>
              <a:chExt cx="2541044" cy="768756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2941AC09-F384-F029-56C6-033C58391BD7}"/>
                  </a:ext>
                </a:extLst>
              </p:cNvPr>
              <p:cNvGrpSpPr/>
              <p:nvPr/>
            </p:nvGrpSpPr>
            <p:grpSpPr>
              <a:xfrm>
                <a:off x="5285145" y="1285127"/>
                <a:ext cx="2503245" cy="768756"/>
                <a:chOff x="5230232" y="5326688"/>
                <a:chExt cx="5157657" cy="1100399"/>
              </a:xfrm>
            </p:grpSpPr>
            <p:sp>
              <p:nvSpPr>
                <p:cNvPr id="55" name="Rounded Rectangle 4">
                  <a:extLst>
                    <a:ext uri="{FF2B5EF4-FFF2-40B4-BE49-F238E27FC236}">
                      <a16:creationId xmlns:a16="http://schemas.microsoft.com/office/drawing/2014/main" id="{783487A3-D51A-32AF-EDD0-BCCD808D8503}"/>
                    </a:ext>
                  </a:extLst>
                </p:cNvPr>
                <p:cNvSpPr/>
                <p:nvPr/>
              </p:nvSpPr>
              <p:spPr>
                <a:xfrm>
                  <a:off x="5308115" y="5326688"/>
                  <a:ext cx="5079774" cy="1100399"/>
                </a:xfrm>
                <a:prstGeom prst="roundRect">
                  <a:avLst>
                    <a:gd name="adj" fmla="val 19993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path path="rect">
                    <a:fillToRect r="100000" b="100000"/>
                  </a:path>
                  <a:tileRect l="-100000" t="-100000"/>
                </a:gradFill>
                <a:ln w="9525" cap="flat" cmpd="sng" algn="ctr">
                  <a:solidFill>
                    <a:schemeClr val="bg1"/>
                  </a:solidFill>
                  <a:prstDash val="solid"/>
                </a:ln>
                <a:effectLst>
                  <a:outerShdw blurRad="50800" dist="38100" dir="2700000" algn="tl" rotWithShape="0">
                    <a:prstClr val="black">
                      <a:alpha val="95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C81F0746-770A-8358-04A4-FA44D260D962}"/>
                    </a:ext>
                  </a:extLst>
                </p:cNvPr>
                <p:cNvSpPr txBox="1"/>
                <p:nvPr/>
              </p:nvSpPr>
              <p:spPr>
                <a:xfrm>
                  <a:off x="5432562" y="5398834"/>
                  <a:ext cx="4088351" cy="94440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endParaRPr lang="en-US" sz="2000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Rectangle: Rounded Corners 56">
                  <a:extLst>
                    <a:ext uri="{FF2B5EF4-FFF2-40B4-BE49-F238E27FC236}">
                      <a16:creationId xmlns:a16="http://schemas.microsoft.com/office/drawing/2014/main" id="{CC994BFB-2F94-889C-8CA8-60490C1F9D43}"/>
                    </a:ext>
                  </a:extLst>
                </p:cNvPr>
                <p:cNvSpPr/>
                <p:nvPr/>
              </p:nvSpPr>
              <p:spPr>
                <a:xfrm flipH="1">
                  <a:off x="5230232" y="5326688"/>
                  <a:ext cx="108000" cy="1100399"/>
                </a:xfrm>
                <a:prstGeom prst="roundRect">
                  <a:avLst>
                    <a:gd name="adj" fmla="val 29836"/>
                  </a:avLst>
                </a:prstGeom>
                <a:solidFill>
                  <a:srgbClr val="F66464"/>
                </a:solidFill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schemeClr val="bg1">
                      <a:alpha val="40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21CA3F-94C0-1362-52FC-512209016DBE}"/>
                  </a:ext>
                </a:extLst>
              </p:cNvPr>
              <p:cNvSpPr txBox="1"/>
              <p:nvPr/>
            </p:nvSpPr>
            <p:spPr>
              <a:xfrm>
                <a:off x="5387706" y="1467890"/>
                <a:ext cx="2438483" cy="359482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endPara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463E8FC-C461-E8E0-6AF1-A2EF546F9E06}"/>
                </a:ext>
              </a:extLst>
            </p:cNvPr>
            <p:cNvSpPr txBox="1"/>
            <p:nvPr/>
          </p:nvSpPr>
          <p:spPr>
            <a:xfrm>
              <a:off x="4971436" y="2725470"/>
              <a:ext cx="2131140" cy="5847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Centers Subscribe to TOASOL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EE2FEEC2-C095-179F-07E4-3AC719E7D0E3}"/>
              </a:ext>
            </a:extLst>
          </p:cNvPr>
          <p:cNvSpPr txBox="1"/>
          <p:nvPr/>
        </p:nvSpPr>
        <p:spPr>
          <a:xfrm rot="5400000">
            <a:off x="10569062" y="1880892"/>
            <a:ext cx="6031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3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7E57C2"/>
                </a:solidFill>
                <a:latin typeface="Aptos"/>
              </a:rPr>
              <a:t>→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3969E21-ACFE-9974-9C10-9D9FE5C528B2}"/>
              </a:ext>
            </a:extLst>
          </p:cNvPr>
          <p:cNvGrpSpPr/>
          <p:nvPr/>
        </p:nvGrpSpPr>
        <p:grpSpPr>
          <a:xfrm>
            <a:off x="7423127" y="2393041"/>
            <a:ext cx="2465312" cy="724002"/>
            <a:chOff x="5088869" y="2338184"/>
            <a:chExt cx="2325191" cy="724002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EACA0F-F230-2117-AA42-0924A454B9C7}"/>
                </a:ext>
              </a:extLst>
            </p:cNvPr>
            <p:cNvGrpSpPr/>
            <p:nvPr/>
          </p:nvGrpSpPr>
          <p:grpSpPr>
            <a:xfrm>
              <a:off x="5088869" y="2338184"/>
              <a:ext cx="2141083" cy="724002"/>
              <a:chOff x="4983083" y="2629924"/>
              <a:chExt cx="2161258" cy="724002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C9638FAA-94BF-456B-793F-D5EDFEDE5D2E}"/>
                  </a:ext>
                </a:extLst>
              </p:cNvPr>
              <p:cNvGrpSpPr/>
              <p:nvPr/>
            </p:nvGrpSpPr>
            <p:grpSpPr>
              <a:xfrm>
                <a:off x="4983083" y="2629924"/>
                <a:ext cx="2024658" cy="724002"/>
                <a:chOff x="5285145" y="1285127"/>
                <a:chExt cx="2541044" cy="768756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58BB092C-2FD9-5A32-FEED-F52AA6B2B83F}"/>
                    </a:ext>
                  </a:extLst>
                </p:cNvPr>
                <p:cNvGrpSpPr/>
                <p:nvPr/>
              </p:nvGrpSpPr>
              <p:grpSpPr>
                <a:xfrm>
                  <a:off x="5285145" y="1285127"/>
                  <a:ext cx="2503245" cy="768756"/>
                  <a:chOff x="5230232" y="5326688"/>
                  <a:chExt cx="5157657" cy="1100399"/>
                </a:xfrm>
              </p:grpSpPr>
              <p:sp>
                <p:nvSpPr>
                  <p:cNvPr id="70" name="Rounded Rectangle 4">
                    <a:extLst>
                      <a:ext uri="{FF2B5EF4-FFF2-40B4-BE49-F238E27FC236}">
                        <a16:creationId xmlns:a16="http://schemas.microsoft.com/office/drawing/2014/main" id="{AB236309-91A0-F7D5-C253-5088D0EA8B59}"/>
                      </a:ext>
                    </a:extLst>
                  </p:cNvPr>
                  <p:cNvSpPr/>
                  <p:nvPr/>
                </p:nvSpPr>
                <p:spPr>
                  <a:xfrm>
                    <a:off x="5308115" y="5326688"/>
                    <a:ext cx="5079774" cy="1100399"/>
                  </a:xfrm>
                  <a:prstGeom prst="roundRect">
                    <a:avLst>
                      <a:gd name="adj" fmla="val 19993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path path="rect">
                      <a:fillToRect r="100000" b="100000"/>
                    </a:path>
                    <a:tileRect l="-100000" t="-100000"/>
                  </a:gradFill>
                  <a:ln w="9525" cap="flat" cmpd="sng" algn="ctr">
                    <a:solidFill>
                      <a:schemeClr val="bg1"/>
                    </a:solidFill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95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TextBox 70">
                    <a:extLst>
                      <a:ext uri="{FF2B5EF4-FFF2-40B4-BE49-F238E27FC236}">
                        <a16:creationId xmlns:a16="http://schemas.microsoft.com/office/drawing/2014/main" id="{46500CCE-0317-3EAF-A035-719A00C5A2C6}"/>
                      </a:ext>
                    </a:extLst>
                  </p:cNvPr>
                  <p:cNvSpPr txBox="1"/>
                  <p:nvPr/>
                </p:nvSpPr>
                <p:spPr>
                  <a:xfrm>
                    <a:off x="5432562" y="5398834"/>
                    <a:ext cx="4088351" cy="9444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000" dirty="0">
                      <a:solidFill>
                        <a:schemeClr val="accent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72" name="Rectangle: Rounded Corners 71">
                    <a:extLst>
                      <a:ext uri="{FF2B5EF4-FFF2-40B4-BE49-F238E27FC236}">
                        <a16:creationId xmlns:a16="http://schemas.microsoft.com/office/drawing/2014/main" id="{9639FE13-922E-690E-058D-15023E1879EB}"/>
                      </a:ext>
                    </a:extLst>
                  </p:cNvPr>
                  <p:cNvSpPr/>
                  <p:nvPr/>
                </p:nvSpPr>
                <p:spPr>
                  <a:xfrm flipH="1">
                    <a:off x="5230232" y="5326688"/>
                    <a:ext cx="108000" cy="1100399"/>
                  </a:xfrm>
                  <a:prstGeom prst="roundRect">
                    <a:avLst>
                      <a:gd name="adj" fmla="val 29836"/>
                    </a:avLst>
                  </a:prstGeom>
                  <a:solidFill>
                    <a:srgbClr val="F66464"/>
                  </a:solidFill>
                  <a:ln>
                    <a:solidFill>
                      <a:schemeClr val="bg1"/>
                    </a:solidFill>
                  </a:ln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FFFA305F-D252-8D0B-9991-FC01A360C78B}"/>
                    </a:ext>
                  </a:extLst>
                </p:cNvPr>
                <p:cNvSpPr txBox="1"/>
                <p:nvPr/>
              </p:nvSpPr>
              <p:spPr>
                <a:xfrm>
                  <a:off x="5387706" y="1467890"/>
                  <a:ext cx="2438483" cy="35948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endPara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DAE940A-52CD-10F3-AC36-7E2FB753396B}"/>
                  </a:ext>
                </a:extLst>
              </p:cNvPr>
              <p:cNvSpPr txBox="1"/>
              <p:nvPr/>
            </p:nvSpPr>
            <p:spPr>
              <a:xfrm>
                <a:off x="5013201" y="2729632"/>
                <a:ext cx="2131140" cy="338554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endPara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8762572-EE8A-D3EA-7F30-E9DBE1429B14}"/>
                </a:ext>
              </a:extLst>
            </p:cNvPr>
            <p:cNvSpPr txBox="1"/>
            <p:nvPr/>
          </p:nvSpPr>
          <p:spPr>
            <a:xfrm>
              <a:off x="5272977" y="2387758"/>
              <a:ext cx="2141083" cy="5847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Parents Join the Platform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2F8D95C2-0BD4-B381-1CB4-415A73018D40}"/>
              </a:ext>
            </a:extLst>
          </p:cNvPr>
          <p:cNvSpPr txBox="1"/>
          <p:nvPr/>
        </p:nvSpPr>
        <p:spPr>
          <a:xfrm rot="5400000">
            <a:off x="8208171" y="1903292"/>
            <a:ext cx="6031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3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7E57C2"/>
                </a:solidFill>
                <a:latin typeface="Aptos"/>
              </a:rPr>
              <a:t>→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C1C804D8-21BF-B0B8-8942-544FCC561CAC}"/>
              </a:ext>
            </a:extLst>
          </p:cNvPr>
          <p:cNvGrpSpPr/>
          <p:nvPr/>
        </p:nvGrpSpPr>
        <p:grpSpPr>
          <a:xfrm>
            <a:off x="7423127" y="3405735"/>
            <a:ext cx="2465312" cy="724002"/>
            <a:chOff x="5088869" y="2338184"/>
            <a:chExt cx="2325191" cy="72400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D88ADAC-430A-0566-B6B4-038068A1FAB3}"/>
                </a:ext>
              </a:extLst>
            </p:cNvPr>
            <p:cNvGrpSpPr/>
            <p:nvPr/>
          </p:nvGrpSpPr>
          <p:grpSpPr>
            <a:xfrm>
              <a:off x="5088869" y="2338184"/>
              <a:ext cx="2141083" cy="724002"/>
              <a:chOff x="4983083" y="2629924"/>
              <a:chExt cx="2161258" cy="724002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FE1DE93-4E42-5028-E765-6D23915E3568}"/>
                  </a:ext>
                </a:extLst>
              </p:cNvPr>
              <p:cNvGrpSpPr/>
              <p:nvPr/>
            </p:nvGrpSpPr>
            <p:grpSpPr>
              <a:xfrm>
                <a:off x="4983083" y="2629924"/>
                <a:ext cx="2024658" cy="724002"/>
                <a:chOff x="5285145" y="1285127"/>
                <a:chExt cx="2541044" cy="768756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7FEB99A3-795F-6730-CB0F-94E0EA6AB789}"/>
                    </a:ext>
                  </a:extLst>
                </p:cNvPr>
                <p:cNvGrpSpPr/>
                <p:nvPr/>
              </p:nvGrpSpPr>
              <p:grpSpPr>
                <a:xfrm>
                  <a:off x="5285145" y="1285127"/>
                  <a:ext cx="2503245" cy="768756"/>
                  <a:chOff x="5230232" y="5326688"/>
                  <a:chExt cx="5157657" cy="1100399"/>
                </a:xfrm>
              </p:grpSpPr>
              <p:sp>
                <p:nvSpPr>
                  <p:cNvPr id="90" name="Rounded Rectangle 4">
                    <a:extLst>
                      <a:ext uri="{FF2B5EF4-FFF2-40B4-BE49-F238E27FC236}">
                        <a16:creationId xmlns:a16="http://schemas.microsoft.com/office/drawing/2014/main" id="{A39A538C-8CB0-25D0-A2B9-D452CCC481A5}"/>
                      </a:ext>
                    </a:extLst>
                  </p:cNvPr>
                  <p:cNvSpPr/>
                  <p:nvPr/>
                </p:nvSpPr>
                <p:spPr>
                  <a:xfrm>
                    <a:off x="5308115" y="5326688"/>
                    <a:ext cx="5079774" cy="1100399"/>
                  </a:xfrm>
                  <a:prstGeom prst="roundRect">
                    <a:avLst>
                      <a:gd name="adj" fmla="val 19993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path path="rect">
                      <a:fillToRect r="100000" b="100000"/>
                    </a:path>
                    <a:tileRect l="-100000" t="-100000"/>
                  </a:gradFill>
                  <a:ln w="9525" cap="flat" cmpd="sng" algn="ctr">
                    <a:solidFill>
                      <a:schemeClr val="bg1"/>
                    </a:solidFill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95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7A598AD3-DB26-3685-8ADF-823A7DBB3647}"/>
                      </a:ext>
                    </a:extLst>
                  </p:cNvPr>
                  <p:cNvSpPr txBox="1"/>
                  <p:nvPr/>
                </p:nvSpPr>
                <p:spPr>
                  <a:xfrm>
                    <a:off x="5432562" y="5398834"/>
                    <a:ext cx="4088351" cy="9444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000" dirty="0">
                      <a:solidFill>
                        <a:schemeClr val="accent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2" name="Rectangle: Rounded Corners 91">
                    <a:extLst>
                      <a:ext uri="{FF2B5EF4-FFF2-40B4-BE49-F238E27FC236}">
                        <a16:creationId xmlns:a16="http://schemas.microsoft.com/office/drawing/2014/main" id="{0E59268A-C058-F32C-BCD7-420D423E6714}"/>
                      </a:ext>
                    </a:extLst>
                  </p:cNvPr>
                  <p:cNvSpPr/>
                  <p:nvPr/>
                </p:nvSpPr>
                <p:spPr>
                  <a:xfrm flipH="1">
                    <a:off x="5230232" y="5326688"/>
                    <a:ext cx="108000" cy="1100399"/>
                  </a:xfrm>
                  <a:prstGeom prst="roundRect">
                    <a:avLst>
                      <a:gd name="adj" fmla="val 29836"/>
                    </a:avLst>
                  </a:prstGeom>
                  <a:solidFill>
                    <a:srgbClr val="F66464"/>
                  </a:solidFill>
                  <a:ln>
                    <a:solidFill>
                      <a:schemeClr val="bg1"/>
                    </a:solidFill>
                  </a:ln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F0FC0920-B910-D166-C8A3-42206347EDD2}"/>
                    </a:ext>
                  </a:extLst>
                </p:cNvPr>
                <p:cNvSpPr txBox="1"/>
                <p:nvPr/>
              </p:nvSpPr>
              <p:spPr>
                <a:xfrm>
                  <a:off x="5387706" y="1467890"/>
                  <a:ext cx="2438483" cy="35948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endPara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8EE5DA5-A957-7970-FDAA-C4F76DD738AF}"/>
                  </a:ext>
                </a:extLst>
              </p:cNvPr>
              <p:cNvSpPr txBox="1"/>
              <p:nvPr/>
            </p:nvSpPr>
            <p:spPr>
              <a:xfrm>
                <a:off x="5013201" y="2729632"/>
                <a:ext cx="2131140" cy="338554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endPara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1D83595-3F33-BB64-A2FD-6288FACE354D}"/>
                </a:ext>
              </a:extLst>
            </p:cNvPr>
            <p:cNvSpPr txBox="1"/>
            <p:nvPr/>
          </p:nvSpPr>
          <p:spPr>
            <a:xfrm>
              <a:off x="5272977" y="2387758"/>
              <a:ext cx="2141083" cy="33855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4F7E271-9E15-C79B-F68B-09D00B5AFE96}"/>
              </a:ext>
            </a:extLst>
          </p:cNvPr>
          <p:cNvSpPr txBox="1"/>
          <p:nvPr/>
        </p:nvSpPr>
        <p:spPr>
          <a:xfrm>
            <a:off x="7801298" y="3498476"/>
            <a:ext cx="2238475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Bookings &amp; Payments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DE6A493-A589-8159-F106-9FF173998276}"/>
              </a:ext>
            </a:extLst>
          </p:cNvPr>
          <p:cNvSpPr txBox="1"/>
          <p:nvPr/>
        </p:nvSpPr>
        <p:spPr>
          <a:xfrm rot="5400000">
            <a:off x="8272444" y="2955354"/>
            <a:ext cx="6031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3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7E57C2"/>
                </a:solidFill>
                <a:latin typeface="Aptos"/>
              </a:rPr>
              <a:t>→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92B601C-F0A9-C227-C73A-3AF3E6FD4CFA}"/>
              </a:ext>
            </a:extLst>
          </p:cNvPr>
          <p:cNvGrpSpPr/>
          <p:nvPr/>
        </p:nvGrpSpPr>
        <p:grpSpPr>
          <a:xfrm>
            <a:off x="9827554" y="3402868"/>
            <a:ext cx="2517708" cy="724002"/>
            <a:chOff x="5088869" y="2338184"/>
            <a:chExt cx="2325191" cy="724002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CEC881EB-0214-045C-2F36-66BAE29B2EF1}"/>
                </a:ext>
              </a:extLst>
            </p:cNvPr>
            <p:cNvGrpSpPr/>
            <p:nvPr/>
          </p:nvGrpSpPr>
          <p:grpSpPr>
            <a:xfrm>
              <a:off x="5088869" y="2338184"/>
              <a:ext cx="2141083" cy="724002"/>
              <a:chOff x="4983083" y="2629924"/>
              <a:chExt cx="2161258" cy="724002"/>
            </a:xfrm>
          </p:grpSpPr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6687A699-4F86-C3E5-0AF8-A088CD22C49C}"/>
                  </a:ext>
                </a:extLst>
              </p:cNvPr>
              <p:cNvGrpSpPr/>
              <p:nvPr/>
            </p:nvGrpSpPr>
            <p:grpSpPr>
              <a:xfrm>
                <a:off x="4983083" y="2629924"/>
                <a:ext cx="2024658" cy="724002"/>
                <a:chOff x="5285145" y="1285127"/>
                <a:chExt cx="2541044" cy="768756"/>
              </a:xfrm>
            </p:grpSpPr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6B649C97-9E8A-D5C2-26BB-A809C6B46BBB}"/>
                    </a:ext>
                  </a:extLst>
                </p:cNvPr>
                <p:cNvGrpSpPr/>
                <p:nvPr/>
              </p:nvGrpSpPr>
              <p:grpSpPr>
                <a:xfrm>
                  <a:off x="5285145" y="1285127"/>
                  <a:ext cx="2503245" cy="768756"/>
                  <a:chOff x="5230232" y="5326688"/>
                  <a:chExt cx="5157657" cy="1100399"/>
                </a:xfrm>
              </p:grpSpPr>
              <p:sp>
                <p:nvSpPr>
                  <p:cNvPr id="103" name="Rounded Rectangle 4">
                    <a:extLst>
                      <a:ext uri="{FF2B5EF4-FFF2-40B4-BE49-F238E27FC236}">
                        <a16:creationId xmlns:a16="http://schemas.microsoft.com/office/drawing/2014/main" id="{7EC46F39-D0D5-1E6A-A3B3-CAAB896961B2}"/>
                      </a:ext>
                    </a:extLst>
                  </p:cNvPr>
                  <p:cNvSpPr/>
                  <p:nvPr/>
                </p:nvSpPr>
                <p:spPr>
                  <a:xfrm>
                    <a:off x="5308115" y="5326688"/>
                    <a:ext cx="5079774" cy="1100399"/>
                  </a:xfrm>
                  <a:prstGeom prst="roundRect">
                    <a:avLst>
                      <a:gd name="adj" fmla="val 19993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path path="rect">
                      <a:fillToRect r="100000" b="100000"/>
                    </a:path>
                    <a:tileRect l="-100000" t="-100000"/>
                  </a:gradFill>
                  <a:ln w="9525" cap="flat" cmpd="sng" algn="ctr">
                    <a:solidFill>
                      <a:schemeClr val="bg1"/>
                    </a:solidFill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95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4" name="TextBox 103">
                    <a:extLst>
                      <a:ext uri="{FF2B5EF4-FFF2-40B4-BE49-F238E27FC236}">
                        <a16:creationId xmlns:a16="http://schemas.microsoft.com/office/drawing/2014/main" id="{E79D2BB9-124A-82BE-C288-A9AF381A95D3}"/>
                      </a:ext>
                    </a:extLst>
                  </p:cNvPr>
                  <p:cNvSpPr txBox="1"/>
                  <p:nvPr/>
                </p:nvSpPr>
                <p:spPr>
                  <a:xfrm>
                    <a:off x="5432562" y="5398834"/>
                    <a:ext cx="4088351" cy="9444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000" dirty="0">
                      <a:solidFill>
                        <a:schemeClr val="accent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5" name="Rectangle: Rounded Corners 104">
                    <a:extLst>
                      <a:ext uri="{FF2B5EF4-FFF2-40B4-BE49-F238E27FC236}">
                        <a16:creationId xmlns:a16="http://schemas.microsoft.com/office/drawing/2014/main" id="{106FB173-244B-7AE0-2F75-4AA100BE3489}"/>
                      </a:ext>
                    </a:extLst>
                  </p:cNvPr>
                  <p:cNvSpPr/>
                  <p:nvPr/>
                </p:nvSpPr>
                <p:spPr>
                  <a:xfrm flipH="1">
                    <a:off x="5230232" y="5326688"/>
                    <a:ext cx="108000" cy="1100399"/>
                  </a:xfrm>
                  <a:prstGeom prst="roundRect">
                    <a:avLst>
                      <a:gd name="adj" fmla="val 29836"/>
                    </a:avLst>
                  </a:prstGeom>
                  <a:solidFill>
                    <a:srgbClr val="F66464"/>
                  </a:solidFill>
                  <a:ln>
                    <a:solidFill>
                      <a:schemeClr val="bg1"/>
                    </a:solidFill>
                  </a:ln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01E3071-047E-8F70-7A32-A21D32BF09AD}"/>
                    </a:ext>
                  </a:extLst>
                </p:cNvPr>
                <p:cNvSpPr txBox="1"/>
                <p:nvPr/>
              </p:nvSpPr>
              <p:spPr>
                <a:xfrm>
                  <a:off x="5387706" y="1467890"/>
                  <a:ext cx="2438483" cy="35948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endPara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98666E9-C88B-6C90-63FA-35DAA827DF52}"/>
                  </a:ext>
                </a:extLst>
              </p:cNvPr>
              <p:cNvSpPr txBox="1"/>
              <p:nvPr/>
            </p:nvSpPr>
            <p:spPr>
              <a:xfrm>
                <a:off x="5013201" y="2729632"/>
                <a:ext cx="2131140" cy="338554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endPara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8FC5DEF-5A03-83D3-3C16-730343CC4B93}"/>
                </a:ext>
              </a:extLst>
            </p:cNvPr>
            <p:cNvSpPr txBox="1"/>
            <p:nvPr/>
          </p:nvSpPr>
          <p:spPr>
            <a:xfrm>
              <a:off x="5272977" y="2387758"/>
              <a:ext cx="2141083" cy="33855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B2951B79-DA5D-F749-B475-FDC99C7FCB6C}"/>
              </a:ext>
            </a:extLst>
          </p:cNvPr>
          <p:cNvSpPr txBox="1"/>
          <p:nvPr/>
        </p:nvSpPr>
        <p:spPr>
          <a:xfrm>
            <a:off x="9918028" y="3497495"/>
            <a:ext cx="2166032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TOASOL Generates Revenue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DC0D6B2-F3E7-AB81-4FFD-5CAA770B3521}"/>
              </a:ext>
            </a:extLst>
          </p:cNvPr>
          <p:cNvSpPr txBox="1"/>
          <p:nvPr/>
        </p:nvSpPr>
        <p:spPr>
          <a:xfrm rot="5400000">
            <a:off x="10618470" y="2938422"/>
            <a:ext cx="6031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3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7E57C2"/>
                </a:solidFill>
                <a:latin typeface="Aptos"/>
              </a:rPr>
              <a:t>→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ED94F29-E1EF-5299-3F51-D03E4E61FB62}"/>
              </a:ext>
            </a:extLst>
          </p:cNvPr>
          <p:cNvSpPr txBox="1"/>
          <p:nvPr/>
        </p:nvSpPr>
        <p:spPr>
          <a:xfrm>
            <a:off x="9364548" y="3446875"/>
            <a:ext cx="6031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3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7E57C2"/>
                </a:solidFill>
                <a:latin typeface="Aptos"/>
              </a:rPr>
              <a:t>→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06FE7B46-391F-5DCE-3072-D9AD17B6AEF7}"/>
              </a:ext>
            </a:extLst>
          </p:cNvPr>
          <p:cNvGrpSpPr/>
          <p:nvPr/>
        </p:nvGrpSpPr>
        <p:grpSpPr>
          <a:xfrm>
            <a:off x="9849488" y="4429135"/>
            <a:ext cx="2495774" cy="724002"/>
            <a:chOff x="5088869" y="2338184"/>
            <a:chExt cx="2325191" cy="724002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F63B33D2-5B91-379A-7F29-1EEEFD0344B1}"/>
                </a:ext>
              </a:extLst>
            </p:cNvPr>
            <p:cNvGrpSpPr/>
            <p:nvPr/>
          </p:nvGrpSpPr>
          <p:grpSpPr>
            <a:xfrm>
              <a:off x="5088869" y="2338184"/>
              <a:ext cx="2141083" cy="724002"/>
              <a:chOff x="4983083" y="2629924"/>
              <a:chExt cx="2161258" cy="724002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BC6AF95C-B798-D96A-E98A-17DF4423D571}"/>
                  </a:ext>
                </a:extLst>
              </p:cNvPr>
              <p:cNvGrpSpPr/>
              <p:nvPr/>
            </p:nvGrpSpPr>
            <p:grpSpPr>
              <a:xfrm>
                <a:off x="4983083" y="2629924"/>
                <a:ext cx="2024658" cy="724002"/>
                <a:chOff x="5285145" y="1285127"/>
                <a:chExt cx="2541044" cy="768756"/>
              </a:xfrm>
            </p:grpSpPr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A0CED786-ACA6-6ADF-DB67-1198FEECA55E}"/>
                    </a:ext>
                  </a:extLst>
                </p:cNvPr>
                <p:cNvGrpSpPr/>
                <p:nvPr/>
              </p:nvGrpSpPr>
              <p:grpSpPr>
                <a:xfrm>
                  <a:off x="5285145" y="1285127"/>
                  <a:ext cx="2503245" cy="768756"/>
                  <a:chOff x="5230232" y="5326688"/>
                  <a:chExt cx="5157657" cy="1100399"/>
                </a:xfrm>
              </p:grpSpPr>
              <p:sp>
                <p:nvSpPr>
                  <p:cNvPr id="117" name="Rounded Rectangle 4">
                    <a:extLst>
                      <a:ext uri="{FF2B5EF4-FFF2-40B4-BE49-F238E27FC236}">
                        <a16:creationId xmlns:a16="http://schemas.microsoft.com/office/drawing/2014/main" id="{DF61A89A-561B-EEA0-050B-7577910AAA69}"/>
                      </a:ext>
                    </a:extLst>
                  </p:cNvPr>
                  <p:cNvSpPr/>
                  <p:nvPr/>
                </p:nvSpPr>
                <p:spPr>
                  <a:xfrm>
                    <a:off x="5308115" y="5326688"/>
                    <a:ext cx="5079774" cy="1100399"/>
                  </a:xfrm>
                  <a:prstGeom prst="roundRect">
                    <a:avLst>
                      <a:gd name="adj" fmla="val 19993"/>
                    </a:avLst>
                  </a:prstGeom>
                  <a:gradFill flip="none" rotWithShape="1">
                    <a:gsLst>
                      <a:gs pos="0">
                        <a:schemeClr val="bg1"/>
                      </a:gs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path path="rect">
                      <a:fillToRect r="100000" b="100000"/>
                    </a:path>
                    <a:tileRect l="-100000" t="-100000"/>
                  </a:gradFill>
                  <a:ln w="9525" cap="flat" cmpd="sng" algn="ctr">
                    <a:solidFill>
                      <a:schemeClr val="bg1"/>
                    </a:solidFill>
                    <a:prstDash val="solid"/>
                  </a:ln>
                  <a:effectLst>
                    <a:outerShdw blurRad="50800" dist="38100" dir="2700000" algn="tl" rotWithShape="0">
                      <a:prstClr val="black">
                        <a:alpha val="95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940F59DE-C7B8-8D9C-A62A-4352219A0D47}"/>
                      </a:ext>
                    </a:extLst>
                  </p:cNvPr>
                  <p:cNvSpPr txBox="1"/>
                  <p:nvPr/>
                </p:nvSpPr>
                <p:spPr>
                  <a:xfrm>
                    <a:off x="5432562" y="5398834"/>
                    <a:ext cx="4088351" cy="94440"/>
                  </a:xfrm>
                  <a:prstGeom prst="rect">
                    <a:avLst/>
                  </a:prstGeom>
                  <a:noFill/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2000" dirty="0">
                      <a:solidFill>
                        <a:schemeClr val="accent1">
                          <a:lumMod val="50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9" name="Rectangle: Rounded Corners 118">
                    <a:extLst>
                      <a:ext uri="{FF2B5EF4-FFF2-40B4-BE49-F238E27FC236}">
                        <a16:creationId xmlns:a16="http://schemas.microsoft.com/office/drawing/2014/main" id="{858831C8-1463-9D86-1BF9-6D6AE6079378}"/>
                      </a:ext>
                    </a:extLst>
                  </p:cNvPr>
                  <p:cNvSpPr/>
                  <p:nvPr/>
                </p:nvSpPr>
                <p:spPr>
                  <a:xfrm flipH="1">
                    <a:off x="5230232" y="5326688"/>
                    <a:ext cx="108000" cy="1100399"/>
                  </a:xfrm>
                  <a:prstGeom prst="roundRect">
                    <a:avLst>
                      <a:gd name="adj" fmla="val 29836"/>
                    </a:avLst>
                  </a:prstGeom>
                  <a:solidFill>
                    <a:srgbClr val="F66464"/>
                  </a:solidFill>
                  <a:ln>
                    <a:solidFill>
                      <a:schemeClr val="bg1"/>
                    </a:solidFill>
                  </a:ln>
                  <a:effectLst>
                    <a:outerShdw blurRad="50800" dist="38100" dir="2700000" algn="tl" rotWithShape="0">
                      <a:schemeClr val="bg1">
                        <a:alpha val="40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16" name="TextBox 115">
                  <a:extLst>
                    <a:ext uri="{FF2B5EF4-FFF2-40B4-BE49-F238E27FC236}">
                      <a16:creationId xmlns:a16="http://schemas.microsoft.com/office/drawing/2014/main" id="{B94FFC3F-0116-2CBA-1940-435E69F4BA81}"/>
                    </a:ext>
                  </a:extLst>
                </p:cNvPr>
                <p:cNvSpPr txBox="1"/>
                <p:nvPr/>
              </p:nvSpPr>
              <p:spPr>
                <a:xfrm>
                  <a:off x="5387706" y="1467890"/>
                  <a:ext cx="2438483" cy="359482"/>
                </a:xfrm>
                <a:prstGeom prst="rect">
                  <a:avLst/>
                </a:prstGeom>
                <a:noFill/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endParaRPr lang="en-US" sz="1600" b="1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0FCDBD74-1A0E-2589-E5FB-9F3F92CEF59E}"/>
                  </a:ext>
                </a:extLst>
              </p:cNvPr>
              <p:cNvSpPr txBox="1"/>
              <p:nvPr/>
            </p:nvSpPr>
            <p:spPr>
              <a:xfrm>
                <a:off x="5013201" y="2729632"/>
                <a:ext cx="2131140" cy="338554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endParaRPr lang="en-US" sz="1600" b="1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6AD8315-9095-515F-9C30-FB97FAE7EE90}"/>
                </a:ext>
              </a:extLst>
            </p:cNvPr>
            <p:cNvSpPr txBox="1"/>
            <p:nvPr/>
          </p:nvSpPr>
          <p:spPr>
            <a:xfrm>
              <a:off x="5272977" y="2387758"/>
              <a:ext cx="2141083" cy="33855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endPara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5CB5229C-A0C7-A14D-068E-1336F89C2B5D}"/>
              </a:ext>
            </a:extLst>
          </p:cNvPr>
          <p:cNvSpPr txBox="1"/>
          <p:nvPr/>
        </p:nvSpPr>
        <p:spPr>
          <a:xfrm>
            <a:off x="10113874" y="4515427"/>
            <a:ext cx="1582390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Revenue Reinvestment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74FC29E-3F7D-83AE-8DA6-C3438C503C28}"/>
              </a:ext>
            </a:extLst>
          </p:cNvPr>
          <p:cNvSpPr txBox="1"/>
          <p:nvPr/>
        </p:nvSpPr>
        <p:spPr>
          <a:xfrm rot="5400000">
            <a:off x="10603514" y="3950419"/>
            <a:ext cx="60310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63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7E57C2"/>
                </a:solidFill>
                <a:latin typeface="Aptos"/>
              </a:rPr>
              <a:t>→</a:t>
            </a:r>
          </a:p>
        </p:txBody>
      </p:sp>
      <p:sp>
        <p:nvSpPr>
          <p:cNvPr id="121" name="Rounded Rectangle 28">
            <a:extLst>
              <a:ext uri="{FF2B5EF4-FFF2-40B4-BE49-F238E27FC236}">
                <a16:creationId xmlns:a16="http://schemas.microsoft.com/office/drawing/2014/main" id="{9CB87415-2B9D-1D33-C5D9-3EC1C3F01D49}"/>
              </a:ext>
            </a:extLst>
          </p:cNvPr>
          <p:cNvSpPr/>
          <p:nvPr/>
        </p:nvSpPr>
        <p:spPr>
          <a:xfrm>
            <a:off x="5151401" y="5610421"/>
            <a:ext cx="6833680" cy="68933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tx2"/>
              </a:gs>
              <a:gs pos="43000">
                <a:schemeClr val="accent1">
                  <a:lumMod val="75000"/>
                </a:schemeClr>
              </a:gs>
              <a:gs pos="0">
                <a:schemeClr val="accent1">
                  <a:lumMod val="75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More Centers  →  More Users  →  More Bookings  →  More Revenue</a:t>
            </a:r>
          </a:p>
        </p:txBody>
      </p:sp>
    </p:spTree>
    <p:extLst>
      <p:ext uri="{BB962C8B-B14F-4D97-AF65-F5344CB8AC3E}">
        <p14:creationId xmlns:p14="http://schemas.microsoft.com/office/powerpoint/2010/main" val="1069820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F88DF-7CDF-E8C5-F1D7-5CB71748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97354" cy="70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5F68F-ED0E-BE05-1449-C6DAAF1B6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-58312" y="-1358"/>
            <a:ext cx="14113978" cy="7146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F8D4E-D454-AB07-2C93-F4F323EAA5EE}"/>
              </a:ext>
            </a:extLst>
          </p:cNvPr>
          <p:cNvSpPr txBox="1"/>
          <p:nvPr/>
        </p:nvSpPr>
        <p:spPr>
          <a:xfrm>
            <a:off x="1322363" y="1655866"/>
            <a:ext cx="6004908" cy="104644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400" b="1" dirty="0">
                <a:solidFill>
                  <a:srgbClr val="FE74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ar-EG" sz="4400" b="1" dirty="0">
                <a:solidFill>
                  <a:srgbClr val="33CCCC"/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solidFill>
                <a:srgbClr val="33CCCC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B3333-0454-C02F-BAA5-9F327EB5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31" y="-7426"/>
            <a:ext cx="7717728" cy="7244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B2AA3-9D4C-7FD9-7641-DAE9F9BC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897"/>
                    </a14:imgEffect>
                    <a14:imgEffect>
                      <a14:saturation sat="10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468" y="111565"/>
            <a:ext cx="2267141" cy="211770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DF15A67-FF52-2AD0-ECF2-78837C787AB9}"/>
              </a:ext>
            </a:extLst>
          </p:cNvPr>
          <p:cNvGrpSpPr/>
          <p:nvPr/>
        </p:nvGrpSpPr>
        <p:grpSpPr>
          <a:xfrm>
            <a:off x="553255" y="3637901"/>
            <a:ext cx="7655440" cy="1493414"/>
            <a:chOff x="508517" y="3407217"/>
            <a:chExt cx="6685224" cy="12209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52D974-7EDB-9227-328F-23DC4B48C4DE}"/>
                </a:ext>
              </a:extLst>
            </p:cNvPr>
            <p:cNvSpPr txBox="1"/>
            <p:nvPr/>
          </p:nvSpPr>
          <p:spPr>
            <a:xfrm>
              <a:off x="508517" y="4032169"/>
              <a:ext cx="1088328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E2697B-CE66-4F75-A492-D78C1126FEDC}"/>
                </a:ext>
              </a:extLst>
            </p:cNvPr>
            <p:cNvSpPr txBox="1"/>
            <p:nvPr/>
          </p:nvSpPr>
          <p:spPr>
            <a:xfrm>
              <a:off x="2319573" y="3418837"/>
              <a:ext cx="889141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AEF3C-DCB0-79D1-3B78-4E1EBCA24DD8}"/>
                </a:ext>
              </a:extLst>
            </p:cNvPr>
            <p:cNvSpPr txBox="1"/>
            <p:nvPr/>
          </p:nvSpPr>
          <p:spPr>
            <a:xfrm>
              <a:off x="3953931" y="4053197"/>
              <a:ext cx="1369999" cy="57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77CF5E-06CE-D704-D8DC-1B70517DDAB7}"/>
                </a:ext>
              </a:extLst>
            </p:cNvPr>
            <p:cNvSpPr txBox="1"/>
            <p:nvPr/>
          </p:nvSpPr>
          <p:spPr>
            <a:xfrm>
              <a:off x="5823742" y="3407217"/>
              <a:ext cx="1369999" cy="624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CFD24BA-2B8A-1EAB-9CB2-9D22028E7A74}"/>
              </a:ext>
            </a:extLst>
          </p:cNvPr>
          <p:cNvSpPr txBox="1"/>
          <p:nvPr/>
        </p:nvSpPr>
        <p:spPr>
          <a:xfrm>
            <a:off x="495052" y="1626005"/>
            <a:ext cx="7174522" cy="769441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24BEA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Our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F3C60-82F0-2FD9-21E3-20008A3FD0D1}"/>
              </a:ext>
            </a:extLst>
          </p:cNvPr>
          <p:cNvSpPr txBox="1"/>
          <p:nvPr/>
        </p:nvSpPr>
        <p:spPr>
          <a:xfrm>
            <a:off x="553255" y="3282048"/>
            <a:ext cx="7623958" cy="92333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6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“To make every child’s therapy journey
more connected, engaging, and measurable.”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D64B7-6C22-0CEB-9971-5070F9E9DE26}"/>
              </a:ext>
            </a:extLst>
          </p:cNvPr>
          <p:cNvSpPr txBox="1"/>
          <p:nvPr/>
        </p:nvSpPr>
        <p:spPr>
          <a:xfrm>
            <a:off x="1538000" y="5776605"/>
            <a:ext cx="5088625" cy="415498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3CCCC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TOASOL  |  Connect. Practice. Grow.</a:t>
            </a:r>
          </a:p>
        </p:txBody>
      </p:sp>
    </p:spTree>
    <p:extLst>
      <p:ext uri="{BB962C8B-B14F-4D97-AF65-F5344CB8AC3E}">
        <p14:creationId xmlns:p14="http://schemas.microsoft.com/office/powerpoint/2010/main" val="225592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F88DF-7CDF-E8C5-F1D7-5CB71748A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997354" cy="70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F5F68F-ED0E-BE05-1449-C6DAAF1B6F9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-58312" y="-13233"/>
            <a:ext cx="14113978" cy="714638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2F8D4E-D454-AB07-2C93-F4F323EAA5EE}"/>
              </a:ext>
            </a:extLst>
          </p:cNvPr>
          <p:cNvSpPr txBox="1"/>
          <p:nvPr/>
        </p:nvSpPr>
        <p:spPr>
          <a:xfrm>
            <a:off x="1322363" y="1655866"/>
            <a:ext cx="6004908" cy="1046440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lumMod val="75000"/>
                <a:alpha val="55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4400" b="1" dirty="0">
                <a:solidFill>
                  <a:srgbClr val="FE74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ar-EG" sz="4400" b="1" dirty="0">
                <a:solidFill>
                  <a:srgbClr val="33CCCC"/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400" b="1" dirty="0">
              <a:solidFill>
                <a:srgbClr val="33CCCC"/>
              </a:solidFill>
              <a:effectLst>
                <a:outerShdw blurRad="50800" dist="38100" dir="2700000" algn="tl" rotWithShape="0">
                  <a:prstClr val="black">
                    <a:alpha val="53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r-EG" sz="18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53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B3333-0454-C02F-BAA5-9F327EB5C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31" y="4449"/>
            <a:ext cx="7717728" cy="7244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EB2AA3-9D4C-7FD9-7641-DAE9F9BC0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897"/>
                    </a14:imgEffect>
                    <a14:imgEffect>
                      <a14:saturation sat="10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842" y="1411381"/>
            <a:ext cx="4319978" cy="403523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2DF15A67-FF52-2AD0-ECF2-78837C787AB9}"/>
              </a:ext>
            </a:extLst>
          </p:cNvPr>
          <p:cNvGrpSpPr/>
          <p:nvPr/>
        </p:nvGrpSpPr>
        <p:grpSpPr>
          <a:xfrm>
            <a:off x="553255" y="3637901"/>
            <a:ext cx="7655440" cy="1493414"/>
            <a:chOff x="508517" y="3407217"/>
            <a:chExt cx="6685224" cy="122093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52D974-7EDB-9227-328F-23DC4B48C4DE}"/>
                </a:ext>
              </a:extLst>
            </p:cNvPr>
            <p:cNvSpPr txBox="1"/>
            <p:nvPr/>
          </p:nvSpPr>
          <p:spPr>
            <a:xfrm>
              <a:off x="508517" y="4032169"/>
              <a:ext cx="1088328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dirty="0">
                <a:solidFill>
                  <a:schemeClr val="tx2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6E2697B-CE66-4F75-A492-D78C1126FEDC}"/>
                </a:ext>
              </a:extLst>
            </p:cNvPr>
            <p:cNvSpPr txBox="1"/>
            <p:nvPr/>
          </p:nvSpPr>
          <p:spPr>
            <a:xfrm>
              <a:off x="2319573" y="3418837"/>
              <a:ext cx="889141" cy="3749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400" b="1" dirty="0">
                <a:solidFill>
                  <a:schemeClr val="tx2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4AEF3C-DCB0-79D1-3B78-4E1EBCA24DD8}"/>
                </a:ext>
              </a:extLst>
            </p:cNvPr>
            <p:cNvSpPr txBox="1"/>
            <p:nvPr/>
          </p:nvSpPr>
          <p:spPr>
            <a:xfrm>
              <a:off x="3953931" y="4053197"/>
              <a:ext cx="1369999" cy="5749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000" b="1" dirty="0">
                <a:solidFill>
                  <a:schemeClr val="tx2"/>
                </a:solidFill>
                <a:latin typeface="Aptos"/>
              </a:endParaRP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077CF5E-06CE-D704-D8DC-1B70517DDAB7}"/>
                </a:ext>
              </a:extLst>
            </p:cNvPr>
            <p:cNvSpPr txBox="1"/>
            <p:nvPr/>
          </p:nvSpPr>
          <p:spPr>
            <a:xfrm>
              <a:off x="5823742" y="3407217"/>
              <a:ext cx="1369999" cy="6249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2"/>
                  </a:solidFill>
                  <a:latin typeface="Aptos"/>
                </a:rPr>
                <a:t>Center</a:t>
              </a:r>
            </a:p>
            <a:p>
              <a:endParaRPr lang="en-US" sz="2000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EE1683D-A85A-5C84-8E51-CD1613CF92C8}"/>
              </a:ext>
            </a:extLst>
          </p:cNvPr>
          <p:cNvSpPr txBox="1"/>
          <p:nvPr/>
        </p:nvSpPr>
        <p:spPr>
          <a:xfrm>
            <a:off x="1799530" y="5381651"/>
            <a:ext cx="5813417" cy="954107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r>
              <a:rPr lang="ar-EG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r>
              <a:rPr lang="ar-EG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your time!</a:t>
            </a:r>
            <a:endParaRPr lang="ar-EG" sz="2800" b="1" dirty="0">
              <a:solidFill>
                <a:srgbClr val="33CC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>
                <a:solidFill>
                  <a:srgbClr val="33CC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you have any questions? </a:t>
            </a:r>
          </a:p>
        </p:txBody>
      </p:sp>
    </p:spTree>
    <p:extLst>
      <p:ext uri="{BB962C8B-B14F-4D97-AF65-F5344CB8AC3E}">
        <p14:creationId xmlns:p14="http://schemas.microsoft.com/office/powerpoint/2010/main" val="947109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1800</TotalTime>
  <Words>646</Words>
  <Application>Microsoft Office PowerPoint</Application>
  <PresentationFormat>Widescreen</PresentationFormat>
  <Paragraphs>201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Gadugi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Hisham Ahmed</dc:creator>
  <cp:lastModifiedBy>Ahmed Hisham Ahmed</cp:lastModifiedBy>
  <cp:revision>6</cp:revision>
  <dcterms:created xsi:type="dcterms:W3CDTF">2026-08-09T16:14:55Z</dcterms:created>
  <dcterms:modified xsi:type="dcterms:W3CDTF">2026-10-30T11:24:29Z</dcterms:modified>
</cp:coreProperties>
</file>